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sldIdLst>
    <p:sldId id="256" r:id="rId2"/>
    <p:sldId id="257" r:id="rId3"/>
    <p:sldId id="258" r:id="rId4"/>
    <p:sldId id="259" r:id="rId5"/>
    <p:sldId id="260" r:id="rId6"/>
    <p:sldId id="261" r:id="rId7"/>
    <p:sldId id="265" r:id="rId8"/>
    <p:sldId id="276" r:id="rId9"/>
    <p:sldId id="275" r:id="rId10"/>
    <p:sldId id="274" r:id="rId11"/>
    <p:sldId id="273" r:id="rId12"/>
    <p:sldId id="262" r:id="rId13"/>
    <p:sldId id="264" r:id="rId14"/>
    <p:sldId id="314" r:id="rId15"/>
    <p:sldId id="304" r:id="rId16"/>
    <p:sldId id="311" r:id="rId17"/>
    <p:sldId id="312" r:id="rId18"/>
    <p:sldId id="313" r:id="rId19"/>
    <p:sldId id="306" r:id="rId20"/>
    <p:sldId id="307" r:id="rId21"/>
    <p:sldId id="315" r:id="rId22"/>
    <p:sldId id="316" r:id="rId23"/>
    <p:sldId id="308" r:id="rId24"/>
    <p:sldId id="317" r:id="rId25"/>
    <p:sldId id="309" r:id="rId26"/>
    <p:sldId id="318" r:id="rId27"/>
    <p:sldId id="310" r:id="rId28"/>
    <p:sldId id="319" r:id="rId29"/>
    <p:sldId id="302" r:id="rId30"/>
    <p:sldId id="299" r:id="rId31"/>
    <p:sldId id="300"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734" autoAdjust="0"/>
    <p:restoredTop sz="92157" autoAdjust="0"/>
  </p:normalViewPr>
  <p:slideViewPr>
    <p:cSldViewPr snapToGrid="0">
      <p:cViewPr varScale="1">
        <p:scale>
          <a:sx n="76" d="100"/>
          <a:sy n="76" d="100"/>
        </p:scale>
        <p:origin x="955" y="62"/>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8005AD3-C12E-44F0-A055-6D2D1E33BFF5}" type="datetimeFigureOut">
              <a:rPr lang="en-IN" smtClean="0"/>
              <a:t>31-10-2025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CD2475E-ECA7-4D9D-BCFA-CDA5569FCA5D}" type="slidenum">
              <a:rPr lang="en-IN" smtClean="0"/>
              <a:t>‹#›</a:t>
            </a:fld>
            <a:endParaRPr lang="en-IN"/>
          </a:p>
        </p:txBody>
      </p:sp>
    </p:spTree>
    <p:extLst>
      <p:ext uri="{BB962C8B-B14F-4D97-AF65-F5344CB8AC3E}">
        <p14:creationId xmlns:p14="http://schemas.microsoft.com/office/powerpoint/2010/main" val="31432806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CD2475E-ECA7-4D9D-BCFA-CDA5569FCA5D}" type="slidenum">
              <a:rPr lang="en-IN" smtClean="0"/>
              <a:t>1</a:t>
            </a:fld>
            <a:endParaRPr lang="en-IN"/>
          </a:p>
        </p:txBody>
      </p:sp>
    </p:spTree>
    <p:extLst>
      <p:ext uri="{BB962C8B-B14F-4D97-AF65-F5344CB8AC3E}">
        <p14:creationId xmlns:p14="http://schemas.microsoft.com/office/powerpoint/2010/main" val="40399751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6F749-4CC8-1AFC-329D-5CB6B9E22A4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9D1274E-762A-D426-F38F-DF4838B0886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F6F6BD4-5283-08F1-FA4F-24DCA1E99993}"/>
              </a:ext>
            </a:extLst>
          </p:cNvPr>
          <p:cNvSpPr>
            <a:spLocks noGrp="1"/>
          </p:cNvSpPr>
          <p:nvPr>
            <p:ph type="dt" sz="half" idx="10"/>
          </p:nvPr>
        </p:nvSpPr>
        <p:spPr/>
        <p:txBody>
          <a:bodyPr/>
          <a:lstStyle/>
          <a:p>
            <a:fld id="{89B007FE-4859-4699-9689-DB6A2DB0C5B9}" type="datetimeFigureOut">
              <a:rPr lang="en-IN" smtClean="0"/>
              <a:t>31-10-2025</a:t>
            </a:fld>
            <a:endParaRPr lang="en-IN"/>
          </a:p>
        </p:txBody>
      </p:sp>
      <p:sp>
        <p:nvSpPr>
          <p:cNvPr id="5" name="Footer Placeholder 4">
            <a:extLst>
              <a:ext uri="{FF2B5EF4-FFF2-40B4-BE49-F238E27FC236}">
                <a16:creationId xmlns:a16="http://schemas.microsoft.com/office/drawing/2014/main" id="{37DC4E96-B206-F185-3F84-A3A4B1A232E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3EC63DA-7FF6-1A34-F211-D29278CF0024}"/>
              </a:ext>
            </a:extLst>
          </p:cNvPr>
          <p:cNvSpPr>
            <a:spLocks noGrp="1"/>
          </p:cNvSpPr>
          <p:nvPr>
            <p:ph type="sldNum" sz="quarter" idx="12"/>
          </p:nvPr>
        </p:nvSpPr>
        <p:spPr/>
        <p:txBody>
          <a:bodyPr/>
          <a:lstStyle/>
          <a:p>
            <a:fld id="{F1682609-A0FB-489E-B637-697A7E3038EE}" type="slidenum">
              <a:rPr lang="en-IN" smtClean="0"/>
              <a:t>‹#›</a:t>
            </a:fld>
            <a:endParaRPr lang="en-IN"/>
          </a:p>
        </p:txBody>
      </p:sp>
    </p:spTree>
    <p:extLst>
      <p:ext uri="{BB962C8B-B14F-4D97-AF65-F5344CB8AC3E}">
        <p14:creationId xmlns:p14="http://schemas.microsoft.com/office/powerpoint/2010/main" val="24287177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D89ECC-EE49-73B7-AB51-3DB6C0C6AA5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8B73B21-E839-B6F7-2610-AB25DE27386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1E73626-1FBC-9477-3C0B-1CB8A2ECC938}"/>
              </a:ext>
            </a:extLst>
          </p:cNvPr>
          <p:cNvSpPr>
            <a:spLocks noGrp="1"/>
          </p:cNvSpPr>
          <p:nvPr>
            <p:ph type="dt" sz="half" idx="10"/>
          </p:nvPr>
        </p:nvSpPr>
        <p:spPr/>
        <p:txBody>
          <a:bodyPr/>
          <a:lstStyle/>
          <a:p>
            <a:fld id="{89B007FE-4859-4699-9689-DB6A2DB0C5B9}" type="datetimeFigureOut">
              <a:rPr lang="en-IN" smtClean="0"/>
              <a:t>31-10-2025</a:t>
            </a:fld>
            <a:endParaRPr lang="en-IN"/>
          </a:p>
        </p:txBody>
      </p:sp>
      <p:sp>
        <p:nvSpPr>
          <p:cNvPr id="5" name="Footer Placeholder 4">
            <a:extLst>
              <a:ext uri="{FF2B5EF4-FFF2-40B4-BE49-F238E27FC236}">
                <a16:creationId xmlns:a16="http://schemas.microsoft.com/office/drawing/2014/main" id="{3A3234FF-D800-F681-AF79-A54325FDB2C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06AE612-4C67-02AC-91FC-C6A75D077A28}"/>
              </a:ext>
            </a:extLst>
          </p:cNvPr>
          <p:cNvSpPr>
            <a:spLocks noGrp="1"/>
          </p:cNvSpPr>
          <p:nvPr>
            <p:ph type="sldNum" sz="quarter" idx="12"/>
          </p:nvPr>
        </p:nvSpPr>
        <p:spPr/>
        <p:txBody>
          <a:bodyPr/>
          <a:lstStyle/>
          <a:p>
            <a:fld id="{F1682609-A0FB-489E-B637-697A7E3038EE}" type="slidenum">
              <a:rPr lang="en-IN" smtClean="0"/>
              <a:t>‹#›</a:t>
            </a:fld>
            <a:endParaRPr lang="en-IN"/>
          </a:p>
        </p:txBody>
      </p:sp>
    </p:spTree>
    <p:extLst>
      <p:ext uri="{BB962C8B-B14F-4D97-AF65-F5344CB8AC3E}">
        <p14:creationId xmlns:p14="http://schemas.microsoft.com/office/powerpoint/2010/main" val="2738735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4A2D5-5718-F64F-4B42-E30233F8733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4A8DE26-2382-C808-A6A1-0AFDB566BCC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3BB7AA1-49AB-B304-1173-273BB6B00B74}"/>
              </a:ext>
            </a:extLst>
          </p:cNvPr>
          <p:cNvSpPr>
            <a:spLocks noGrp="1"/>
          </p:cNvSpPr>
          <p:nvPr>
            <p:ph type="dt" sz="half" idx="10"/>
          </p:nvPr>
        </p:nvSpPr>
        <p:spPr/>
        <p:txBody>
          <a:bodyPr/>
          <a:lstStyle/>
          <a:p>
            <a:fld id="{89B007FE-4859-4699-9689-DB6A2DB0C5B9}" type="datetimeFigureOut">
              <a:rPr lang="en-IN" smtClean="0"/>
              <a:t>31-10-2025</a:t>
            </a:fld>
            <a:endParaRPr lang="en-IN"/>
          </a:p>
        </p:txBody>
      </p:sp>
      <p:sp>
        <p:nvSpPr>
          <p:cNvPr id="5" name="Footer Placeholder 4">
            <a:extLst>
              <a:ext uri="{FF2B5EF4-FFF2-40B4-BE49-F238E27FC236}">
                <a16:creationId xmlns:a16="http://schemas.microsoft.com/office/drawing/2014/main" id="{9041217B-AD99-7FB4-5415-80C6732141D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10C5A96-86AE-338B-3609-F0B60CE14194}"/>
              </a:ext>
            </a:extLst>
          </p:cNvPr>
          <p:cNvSpPr>
            <a:spLocks noGrp="1"/>
          </p:cNvSpPr>
          <p:nvPr>
            <p:ph type="sldNum" sz="quarter" idx="12"/>
          </p:nvPr>
        </p:nvSpPr>
        <p:spPr/>
        <p:txBody>
          <a:bodyPr/>
          <a:lstStyle/>
          <a:p>
            <a:fld id="{F1682609-A0FB-489E-B637-697A7E3038EE}" type="slidenum">
              <a:rPr lang="en-IN" smtClean="0"/>
              <a:t>‹#›</a:t>
            </a:fld>
            <a:endParaRPr lang="en-IN"/>
          </a:p>
        </p:txBody>
      </p:sp>
    </p:spTree>
    <p:extLst>
      <p:ext uri="{BB962C8B-B14F-4D97-AF65-F5344CB8AC3E}">
        <p14:creationId xmlns:p14="http://schemas.microsoft.com/office/powerpoint/2010/main" val="5344229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4F36C-139F-D3AA-D9EC-2AF63E154E2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66B72C2-713D-034F-5E63-B328138103B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37A42F6-A8E5-9BA9-4501-FD69379B430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69987FD-BA3B-E4E2-4E6E-C9131A181635}"/>
              </a:ext>
            </a:extLst>
          </p:cNvPr>
          <p:cNvSpPr>
            <a:spLocks noGrp="1"/>
          </p:cNvSpPr>
          <p:nvPr>
            <p:ph type="dt" sz="half" idx="10"/>
          </p:nvPr>
        </p:nvSpPr>
        <p:spPr/>
        <p:txBody>
          <a:bodyPr/>
          <a:lstStyle/>
          <a:p>
            <a:fld id="{89B007FE-4859-4699-9689-DB6A2DB0C5B9}" type="datetimeFigureOut">
              <a:rPr lang="en-IN" smtClean="0"/>
              <a:t>31-10-2025</a:t>
            </a:fld>
            <a:endParaRPr lang="en-IN"/>
          </a:p>
        </p:txBody>
      </p:sp>
      <p:sp>
        <p:nvSpPr>
          <p:cNvPr id="6" name="Footer Placeholder 5">
            <a:extLst>
              <a:ext uri="{FF2B5EF4-FFF2-40B4-BE49-F238E27FC236}">
                <a16:creationId xmlns:a16="http://schemas.microsoft.com/office/drawing/2014/main" id="{395A478E-6D91-FC5D-C350-F3DEA330C72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5B512A7-1A7B-C3F3-B505-1B6AB626989B}"/>
              </a:ext>
            </a:extLst>
          </p:cNvPr>
          <p:cNvSpPr>
            <a:spLocks noGrp="1"/>
          </p:cNvSpPr>
          <p:nvPr>
            <p:ph type="sldNum" sz="quarter" idx="12"/>
          </p:nvPr>
        </p:nvSpPr>
        <p:spPr/>
        <p:txBody>
          <a:bodyPr/>
          <a:lstStyle/>
          <a:p>
            <a:fld id="{F1682609-A0FB-489E-B637-697A7E3038EE}" type="slidenum">
              <a:rPr lang="en-IN" smtClean="0"/>
              <a:t>‹#›</a:t>
            </a:fld>
            <a:endParaRPr lang="en-IN"/>
          </a:p>
        </p:txBody>
      </p:sp>
    </p:spTree>
    <p:extLst>
      <p:ext uri="{BB962C8B-B14F-4D97-AF65-F5344CB8AC3E}">
        <p14:creationId xmlns:p14="http://schemas.microsoft.com/office/powerpoint/2010/main" val="206816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D4DFAB-4B9D-077F-88A3-886274869E2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C9331C8-33CE-D20F-9007-262E8493B60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4F3EEFF-DCC0-2985-1B78-53A4607C74A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D32E800-F9E8-60B1-31D2-6B887C454A1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9D135A9-F129-44DA-546B-40D69BB0BAB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1930ED9-2D94-1251-A201-6F65F57BE7C1}"/>
              </a:ext>
            </a:extLst>
          </p:cNvPr>
          <p:cNvSpPr>
            <a:spLocks noGrp="1"/>
          </p:cNvSpPr>
          <p:nvPr>
            <p:ph type="dt" sz="half" idx="10"/>
          </p:nvPr>
        </p:nvSpPr>
        <p:spPr/>
        <p:txBody>
          <a:bodyPr/>
          <a:lstStyle/>
          <a:p>
            <a:fld id="{89B007FE-4859-4699-9689-DB6A2DB0C5B9}" type="datetimeFigureOut">
              <a:rPr lang="en-IN" smtClean="0"/>
              <a:t>31-10-2025</a:t>
            </a:fld>
            <a:endParaRPr lang="en-IN"/>
          </a:p>
        </p:txBody>
      </p:sp>
      <p:sp>
        <p:nvSpPr>
          <p:cNvPr id="8" name="Footer Placeholder 7">
            <a:extLst>
              <a:ext uri="{FF2B5EF4-FFF2-40B4-BE49-F238E27FC236}">
                <a16:creationId xmlns:a16="http://schemas.microsoft.com/office/drawing/2014/main" id="{87C86969-2049-7C2E-3F55-B7AB96BDB4E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F8EF40C-A36C-B59A-5654-E33EA26FF62B}"/>
              </a:ext>
            </a:extLst>
          </p:cNvPr>
          <p:cNvSpPr>
            <a:spLocks noGrp="1"/>
          </p:cNvSpPr>
          <p:nvPr>
            <p:ph type="sldNum" sz="quarter" idx="12"/>
          </p:nvPr>
        </p:nvSpPr>
        <p:spPr/>
        <p:txBody>
          <a:bodyPr/>
          <a:lstStyle/>
          <a:p>
            <a:fld id="{F1682609-A0FB-489E-B637-697A7E3038EE}" type="slidenum">
              <a:rPr lang="en-IN" smtClean="0"/>
              <a:t>‹#›</a:t>
            </a:fld>
            <a:endParaRPr lang="en-IN"/>
          </a:p>
        </p:txBody>
      </p:sp>
    </p:spTree>
    <p:extLst>
      <p:ext uri="{BB962C8B-B14F-4D97-AF65-F5344CB8AC3E}">
        <p14:creationId xmlns:p14="http://schemas.microsoft.com/office/powerpoint/2010/main" val="34298230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17019-87FA-46E8-1B6A-5E3AA9AB915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8FC322E-8A58-576C-F76E-D992D97AAFCC}"/>
              </a:ext>
            </a:extLst>
          </p:cNvPr>
          <p:cNvSpPr>
            <a:spLocks noGrp="1"/>
          </p:cNvSpPr>
          <p:nvPr>
            <p:ph type="dt" sz="half" idx="10"/>
          </p:nvPr>
        </p:nvSpPr>
        <p:spPr/>
        <p:txBody>
          <a:bodyPr/>
          <a:lstStyle/>
          <a:p>
            <a:fld id="{89B007FE-4859-4699-9689-DB6A2DB0C5B9}" type="datetimeFigureOut">
              <a:rPr lang="en-IN" smtClean="0"/>
              <a:t>31-10-2025</a:t>
            </a:fld>
            <a:endParaRPr lang="en-IN"/>
          </a:p>
        </p:txBody>
      </p:sp>
      <p:sp>
        <p:nvSpPr>
          <p:cNvPr id="4" name="Footer Placeholder 3">
            <a:extLst>
              <a:ext uri="{FF2B5EF4-FFF2-40B4-BE49-F238E27FC236}">
                <a16:creationId xmlns:a16="http://schemas.microsoft.com/office/drawing/2014/main" id="{900BD5F7-808C-E91C-1773-58D00638A91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7E11134-B661-A9C7-920E-1256BD7332EE}"/>
              </a:ext>
            </a:extLst>
          </p:cNvPr>
          <p:cNvSpPr>
            <a:spLocks noGrp="1"/>
          </p:cNvSpPr>
          <p:nvPr>
            <p:ph type="sldNum" sz="quarter" idx="12"/>
          </p:nvPr>
        </p:nvSpPr>
        <p:spPr/>
        <p:txBody>
          <a:bodyPr/>
          <a:lstStyle/>
          <a:p>
            <a:fld id="{F1682609-A0FB-489E-B637-697A7E3038EE}" type="slidenum">
              <a:rPr lang="en-IN" smtClean="0"/>
              <a:t>‹#›</a:t>
            </a:fld>
            <a:endParaRPr lang="en-IN"/>
          </a:p>
        </p:txBody>
      </p:sp>
    </p:spTree>
    <p:extLst>
      <p:ext uri="{BB962C8B-B14F-4D97-AF65-F5344CB8AC3E}">
        <p14:creationId xmlns:p14="http://schemas.microsoft.com/office/powerpoint/2010/main" val="9999178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BFCDED8-1145-891E-47E1-C6D634EE4B16}"/>
              </a:ext>
            </a:extLst>
          </p:cNvPr>
          <p:cNvSpPr>
            <a:spLocks noGrp="1"/>
          </p:cNvSpPr>
          <p:nvPr>
            <p:ph type="dt" sz="half" idx="10"/>
          </p:nvPr>
        </p:nvSpPr>
        <p:spPr/>
        <p:txBody>
          <a:bodyPr/>
          <a:lstStyle/>
          <a:p>
            <a:fld id="{89B007FE-4859-4699-9689-DB6A2DB0C5B9}" type="datetimeFigureOut">
              <a:rPr lang="en-IN" smtClean="0"/>
              <a:t>31-10-2025</a:t>
            </a:fld>
            <a:endParaRPr lang="en-IN"/>
          </a:p>
        </p:txBody>
      </p:sp>
      <p:sp>
        <p:nvSpPr>
          <p:cNvPr id="3" name="Footer Placeholder 2">
            <a:extLst>
              <a:ext uri="{FF2B5EF4-FFF2-40B4-BE49-F238E27FC236}">
                <a16:creationId xmlns:a16="http://schemas.microsoft.com/office/drawing/2014/main" id="{C9C548FE-9158-7668-6C9D-4A8F451EB7A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02FDE42-34F0-F672-CCC7-896EF287DA84}"/>
              </a:ext>
            </a:extLst>
          </p:cNvPr>
          <p:cNvSpPr>
            <a:spLocks noGrp="1"/>
          </p:cNvSpPr>
          <p:nvPr>
            <p:ph type="sldNum" sz="quarter" idx="12"/>
          </p:nvPr>
        </p:nvSpPr>
        <p:spPr/>
        <p:txBody>
          <a:bodyPr/>
          <a:lstStyle/>
          <a:p>
            <a:fld id="{F1682609-A0FB-489E-B637-697A7E3038EE}" type="slidenum">
              <a:rPr lang="en-IN" smtClean="0"/>
              <a:t>‹#›</a:t>
            </a:fld>
            <a:endParaRPr lang="en-IN"/>
          </a:p>
        </p:txBody>
      </p:sp>
    </p:spTree>
    <p:extLst>
      <p:ext uri="{BB962C8B-B14F-4D97-AF65-F5344CB8AC3E}">
        <p14:creationId xmlns:p14="http://schemas.microsoft.com/office/powerpoint/2010/main" val="32117044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435DE5-0B40-3287-83B7-687D06C48EC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E9E197F-B444-EB84-4D22-AA54167466B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28DD022-8A18-3876-FCAC-759D418D02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BF6FBD5-DC94-B608-F82F-1B1D27A09D21}"/>
              </a:ext>
            </a:extLst>
          </p:cNvPr>
          <p:cNvSpPr>
            <a:spLocks noGrp="1"/>
          </p:cNvSpPr>
          <p:nvPr>
            <p:ph type="dt" sz="half" idx="10"/>
          </p:nvPr>
        </p:nvSpPr>
        <p:spPr/>
        <p:txBody>
          <a:bodyPr/>
          <a:lstStyle/>
          <a:p>
            <a:fld id="{89B007FE-4859-4699-9689-DB6A2DB0C5B9}" type="datetimeFigureOut">
              <a:rPr lang="en-IN" smtClean="0"/>
              <a:t>31-10-2025</a:t>
            </a:fld>
            <a:endParaRPr lang="en-IN"/>
          </a:p>
        </p:txBody>
      </p:sp>
      <p:sp>
        <p:nvSpPr>
          <p:cNvPr id="6" name="Footer Placeholder 5">
            <a:extLst>
              <a:ext uri="{FF2B5EF4-FFF2-40B4-BE49-F238E27FC236}">
                <a16:creationId xmlns:a16="http://schemas.microsoft.com/office/drawing/2014/main" id="{CB4E017D-995F-D4CE-D5CC-27EC2809125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B32FBD3-D887-BF4D-493D-0E78A57DA31E}"/>
              </a:ext>
            </a:extLst>
          </p:cNvPr>
          <p:cNvSpPr>
            <a:spLocks noGrp="1"/>
          </p:cNvSpPr>
          <p:nvPr>
            <p:ph type="sldNum" sz="quarter" idx="12"/>
          </p:nvPr>
        </p:nvSpPr>
        <p:spPr/>
        <p:txBody>
          <a:bodyPr/>
          <a:lstStyle/>
          <a:p>
            <a:fld id="{F1682609-A0FB-489E-B637-697A7E3038EE}" type="slidenum">
              <a:rPr lang="en-IN" smtClean="0"/>
              <a:t>‹#›</a:t>
            </a:fld>
            <a:endParaRPr lang="en-IN"/>
          </a:p>
        </p:txBody>
      </p:sp>
    </p:spTree>
    <p:extLst>
      <p:ext uri="{BB962C8B-B14F-4D97-AF65-F5344CB8AC3E}">
        <p14:creationId xmlns:p14="http://schemas.microsoft.com/office/powerpoint/2010/main" val="19920836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363248-207E-4197-9FE7-CE8D62B3961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7C53015-4621-A6CF-C95A-BEC62F34F86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43376AE-C2E5-FE49-F33C-BF6D0D06097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9B641FD-F657-D1D3-F11D-CDD33CB6D67F}"/>
              </a:ext>
            </a:extLst>
          </p:cNvPr>
          <p:cNvSpPr>
            <a:spLocks noGrp="1"/>
          </p:cNvSpPr>
          <p:nvPr>
            <p:ph type="dt" sz="half" idx="10"/>
          </p:nvPr>
        </p:nvSpPr>
        <p:spPr/>
        <p:txBody>
          <a:bodyPr/>
          <a:lstStyle/>
          <a:p>
            <a:fld id="{89B007FE-4859-4699-9689-DB6A2DB0C5B9}" type="datetimeFigureOut">
              <a:rPr lang="en-IN" smtClean="0"/>
              <a:t>31-10-2025</a:t>
            </a:fld>
            <a:endParaRPr lang="en-IN"/>
          </a:p>
        </p:txBody>
      </p:sp>
      <p:sp>
        <p:nvSpPr>
          <p:cNvPr id="6" name="Footer Placeholder 5">
            <a:extLst>
              <a:ext uri="{FF2B5EF4-FFF2-40B4-BE49-F238E27FC236}">
                <a16:creationId xmlns:a16="http://schemas.microsoft.com/office/drawing/2014/main" id="{853B445F-D338-392F-7AE3-80B7A011CAF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50D235F-63BF-749D-B496-579443EEF4A7}"/>
              </a:ext>
            </a:extLst>
          </p:cNvPr>
          <p:cNvSpPr>
            <a:spLocks noGrp="1"/>
          </p:cNvSpPr>
          <p:nvPr>
            <p:ph type="sldNum" sz="quarter" idx="12"/>
          </p:nvPr>
        </p:nvSpPr>
        <p:spPr/>
        <p:txBody>
          <a:bodyPr/>
          <a:lstStyle/>
          <a:p>
            <a:fld id="{F1682609-A0FB-489E-B637-697A7E3038EE}" type="slidenum">
              <a:rPr lang="en-IN" smtClean="0"/>
              <a:t>‹#›</a:t>
            </a:fld>
            <a:endParaRPr lang="en-IN"/>
          </a:p>
        </p:txBody>
      </p:sp>
    </p:spTree>
    <p:extLst>
      <p:ext uri="{BB962C8B-B14F-4D97-AF65-F5344CB8AC3E}">
        <p14:creationId xmlns:p14="http://schemas.microsoft.com/office/powerpoint/2010/main" val="20807942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7D2EB9-BA71-56D0-2B51-D1B12881F8E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92DACB0-AD4C-2717-8BDA-C48973F1EC8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37EF788-9B3B-32F9-BD6F-14469835F465}"/>
              </a:ext>
            </a:extLst>
          </p:cNvPr>
          <p:cNvSpPr>
            <a:spLocks noGrp="1"/>
          </p:cNvSpPr>
          <p:nvPr>
            <p:ph type="dt" sz="half" idx="10"/>
          </p:nvPr>
        </p:nvSpPr>
        <p:spPr/>
        <p:txBody>
          <a:bodyPr/>
          <a:lstStyle/>
          <a:p>
            <a:fld id="{89B007FE-4859-4699-9689-DB6A2DB0C5B9}" type="datetimeFigureOut">
              <a:rPr lang="en-IN" smtClean="0"/>
              <a:t>31-10-2025</a:t>
            </a:fld>
            <a:endParaRPr lang="en-IN"/>
          </a:p>
        </p:txBody>
      </p:sp>
      <p:sp>
        <p:nvSpPr>
          <p:cNvPr id="5" name="Footer Placeholder 4">
            <a:extLst>
              <a:ext uri="{FF2B5EF4-FFF2-40B4-BE49-F238E27FC236}">
                <a16:creationId xmlns:a16="http://schemas.microsoft.com/office/drawing/2014/main" id="{6B46A750-8E02-ABAE-EA75-F76F89F1A47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5727E94-1A13-DD7A-210A-59814282C659}"/>
              </a:ext>
            </a:extLst>
          </p:cNvPr>
          <p:cNvSpPr>
            <a:spLocks noGrp="1"/>
          </p:cNvSpPr>
          <p:nvPr>
            <p:ph type="sldNum" sz="quarter" idx="12"/>
          </p:nvPr>
        </p:nvSpPr>
        <p:spPr/>
        <p:txBody>
          <a:bodyPr/>
          <a:lstStyle/>
          <a:p>
            <a:fld id="{F1682609-A0FB-489E-B637-697A7E3038EE}" type="slidenum">
              <a:rPr lang="en-IN" smtClean="0"/>
              <a:t>‹#›</a:t>
            </a:fld>
            <a:endParaRPr lang="en-IN"/>
          </a:p>
        </p:txBody>
      </p:sp>
    </p:spTree>
    <p:extLst>
      <p:ext uri="{BB962C8B-B14F-4D97-AF65-F5344CB8AC3E}">
        <p14:creationId xmlns:p14="http://schemas.microsoft.com/office/powerpoint/2010/main" val="41170796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BBBE070-B65B-C81F-BF63-87C6F10F35A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F098EFD-B0BB-C40F-DFBE-25E211CEDDE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6D66BAF-7A59-C442-8B9E-8A3949B1E0F7}"/>
              </a:ext>
            </a:extLst>
          </p:cNvPr>
          <p:cNvSpPr>
            <a:spLocks noGrp="1"/>
          </p:cNvSpPr>
          <p:nvPr>
            <p:ph type="dt" sz="half" idx="10"/>
          </p:nvPr>
        </p:nvSpPr>
        <p:spPr/>
        <p:txBody>
          <a:bodyPr/>
          <a:lstStyle/>
          <a:p>
            <a:fld id="{89B007FE-4859-4699-9689-DB6A2DB0C5B9}" type="datetimeFigureOut">
              <a:rPr lang="en-IN" smtClean="0"/>
              <a:t>31-10-2025</a:t>
            </a:fld>
            <a:endParaRPr lang="en-IN"/>
          </a:p>
        </p:txBody>
      </p:sp>
      <p:sp>
        <p:nvSpPr>
          <p:cNvPr id="5" name="Footer Placeholder 4">
            <a:extLst>
              <a:ext uri="{FF2B5EF4-FFF2-40B4-BE49-F238E27FC236}">
                <a16:creationId xmlns:a16="http://schemas.microsoft.com/office/drawing/2014/main" id="{D9A97886-3FF4-E4B6-DC22-50651A4D3A7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1A34C33-09F6-168C-07AE-97D518A7779E}"/>
              </a:ext>
            </a:extLst>
          </p:cNvPr>
          <p:cNvSpPr>
            <a:spLocks noGrp="1"/>
          </p:cNvSpPr>
          <p:nvPr>
            <p:ph type="sldNum" sz="quarter" idx="12"/>
          </p:nvPr>
        </p:nvSpPr>
        <p:spPr/>
        <p:txBody>
          <a:bodyPr/>
          <a:lstStyle/>
          <a:p>
            <a:fld id="{F1682609-A0FB-489E-B637-697A7E3038EE}" type="slidenum">
              <a:rPr lang="en-IN" smtClean="0"/>
              <a:t>‹#›</a:t>
            </a:fld>
            <a:endParaRPr lang="en-IN"/>
          </a:p>
        </p:txBody>
      </p:sp>
    </p:spTree>
    <p:extLst>
      <p:ext uri="{BB962C8B-B14F-4D97-AF65-F5344CB8AC3E}">
        <p14:creationId xmlns:p14="http://schemas.microsoft.com/office/powerpoint/2010/main" val="6379230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BA7446A-D569-0810-37D6-6B21DDA6478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107389F-2985-0D9D-C734-D581F07FEE3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05757CD-2D01-644D-CF7F-A642EBC3065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9B007FE-4859-4699-9689-DB6A2DB0C5B9}" type="datetimeFigureOut">
              <a:rPr lang="en-IN" smtClean="0"/>
              <a:t>31-10-2025</a:t>
            </a:fld>
            <a:endParaRPr lang="en-IN"/>
          </a:p>
        </p:txBody>
      </p:sp>
      <p:sp>
        <p:nvSpPr>
          <p:cNvPr id="5" name="Footer Placeholder 4">
            <a:extLst>
              <a:ext uri="{FF2B5EF4-FFF2-40B4-BE49-F238E27FC236}">
                <a16:creationId xmlns:a16="http://schemas.microsoft.com/office/drawing/2014/main" id="{36E73285-9061-7C1D-5A4C-519689BD1F4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6EF63CB4-96B7-F219-AE14-68BBFAA37E3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1682609-A0FB-489E-B637-697A7E3038EE}" type="slidenum">
              <a:rPr lang="en-IN" smtClean="0"/>
              <a:t>‹#›</a:t>
            </a:fld>
            <a:endParaRPr lang="en-IN"/>
          </a:p>
        </p:txBody>
      </p:sp>
    </p:spTree>
    <p:extLst>
      <p:ext uri="{BB962C8B-B14F-4D97-AF65-F5344CB8AC3E}">
        <p14:creationId xmlns:p14="http://schemas.microsoft.com/office/powerpoint/2010/main" val="40475303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jpg"/><Relationship Id="rId10" Type="http://schemas.openxmlformats.org/officeDocument/2006/relationships/image" Target="../media/image8.png"/><Relationship Id="rId4" Type="http://schemas.openxmlformats.org/officeDocument/2006/relationships/image" Target="../media/image2.jpg"/><Relationship Id="rId9" Type="http://schemas.openxmlformats.org/officeDocument/2006/relationships/image" Target="../media/image7.png"/><Relationship Id="rId14" Type="http://schemas.openxmlformats.org/officeDocument/2006/relationships/image" Target="../media/image1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7DC12A-4DE3-5854-BA2A-9E32ED08E0A0}"/>
              </a:ext>
            </a:extLst>
          </p:cNvPr>
          <p:cNvSpPr>
            <a:spLocks noGrp="1"/>
          </p:cNvSpPr>
          <p:nvPr>
            <p:ph type="ctrTitle"/>
          </p:nvPr>
        </p:nvSpPr>
        <p:spPr>
          <a:xfrm>
            <a:off x="2322783" y="3249644"/>
            <a:ext cx="7189604" cy="517427"/>
          </a:xfrm>
        </p:spPr>
        <p:txBody>
          <a:bodyPr>
            <a:normAutofit/>
          </a:bodyPr>
          <a:lstStyle/>
          <a:p>
            <a:pPr algn="just"/>
            <a:r>
              <a:rPr lang="en-IN" sz="2800" b="1" dirty="0">
                <a:latin typeface="Times New Roman" panose="02020603050405020304" pitchFamily="18" charset="0"/>
                <a:cs typeface="Times New Roman" panose="02020603050405020304" pitchFamily="18" charset="0"/>
              </a:rPr>
              <a:t>Plant disease detection: Yield loss Estimation</a:t>
            </a:r>
            <a:endParaRPr lang="en-IN" sz="28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2B858012-A05D-6E27-C41A-C1A8974B9057}"/>
              </a:ext>
            </a:extLst>
          </p:cNvPr>
          <p:cNvSpPr>
            <a:spLocks noGrp="1"/>
          </p:cNvSpPr>
          <p:nvPr>
            <p:ph type="subTitle" idx="1"/>
          </p:nvPr>
        </p:nvSpPr>
        <p:spPr>
          <a:xfrm>
            <a:off x="1795059" y="3949764"/>
            <a:ext cx="7757328" cy="2136760"/>
          </a:xfrm>
        </p:spPr>
        <p:txBody>
          <a:bodyPr>
            <a:normAutofit fontScale="77500" lnSpcReduction="20000"/>
          </a:bodyPr>
          <a:lstStyle/>
          <a:p>
            <a:r>
              <a:rPr lang="en-US" b="1" dirty="0">
                <a:solidFill>
                  <a:srgbClr val="0066FF"/>
                </a:solidFill>
                <a:latin typeface="Times New Roman" panose="02020603050405020304" pitchFamily="18" charset="0"/>
                <a:cs typeface="Times New Roman" panose="02020603050405020304" pitchFamily="18" charset="0"/>
              </a:rPr>
              <a:t>by</a:t>
            </a:r>
          </a:p>
          <a:p>
            <a:r>
              <a:rPr lang="en-US" sz="2800" b="1" u="sng" dirty="0">
                <a:latin typeface="Times New Roman" panose="02020603050405020304" pitchFamily="18" charset="0"/>
                <a:ea typeface="Tahoma" panose="020B0604030504040204" pitchFamily="34" charset="0"/>
                <a:cs typeface="Times New Roman" panose="02020603050405020304" pitchFamily="18" charset="0"/>
              </a:rPr>
              <a:t>Roll no:-</a:t>
            </a:r>
          </a:p>
          <a:p>
            <a:r>
              <a:rPr lang="en-IN" sz="2800" b="1" dirty="0">
                <a:latin typeface="Times New Roman"/>
                <a:ea typeface="Times New Roman"/>
                <a:cs typeface="Times New Roman"/>
                <a:sym typeface="Times New Roman"/>
              </a:rPr>
              <a:t>TC244</a:t>
            </a:r>
            <a:r>
              <a:rPr lang="en-IN" sz="2800" b="1" dirty="0">
                <a:solidFill>
                  <a:srgbClr val="000000"/>
                </a:solidFill>
                <a:latin typeface="Times New Roman"/>
                <a:ea typeface="Times New Roman"/>
                <a:cs typeface="Times New Roman"/>
                <a:sym typeface="Times New Roman"/>
              </a:rPr>
              <a:t> : </a:t>
            </a:r>
            <a:r>
              <a:rPr lang="en-IN" sz="2800" b="1" dirty="0">
                <a:latin typeface="Times New Roman"/>
                <a:ea typeface="Times New Roman"/>
                <a:cs typeface="Times New Roman"/>
                <a:sym typeface="Times New Roman"/>
              </a:rPr>
              <a:t>Tejas Naikude</a:t>
            </a:r>
          </a:p>
          <a:p>
            <a:endParaRPr lang="en-IN" sz="2800" b="1" dirty="0">
              <a:solidFill>
                <a:schemeClr val="dk1"/>
              </a:solidFill>
              <a:latin typeface="Times New Roman"/>
              <a:ea typeface="Times New Roman"/>
              <a:cs typeface="Times New Roman"/>
              <a:sym typeface="Times New Roman"/>
            </a:endParaRPr>
          </a:p>
          <a:p>
            <a:r>
              <a:rPr lang="en-IN" sz="2800" b="1" dirty="0">
                <a:solidFill>
                  <a:srgbClr val="0066FF"/>
                </a:solidFill>
                <a:latin typeface="Times New Roman"/>
                <a:ea typeface="Times New Roman"/>
                <a:cs typeface="Times New Roman"/>
                <a:sym typeface="Times New Roman"/>
              </a:rPr>
              <a:t>Under the guidance of</a:t>
            </a:r>
          </a:p>
          <a:p>
            <a:r>
              <a:rPr lang="en-IN" sz="2800" b="1" dirty="0">
                <a:latin typeface="Times New Roman"/>
                <a:ea typeface="Times New Roman"/>
                <a:cs typeface="Times New Roman"/>
                <a:sym typeface="Times New Roman"/>
              </a:rPr>
              <a:t>Dr. Anita Shinde</a:t>
            </a:r>
            <a:endParaRPr lang="en-IN" sz="2800" b="1" dirty="0">
              <a:solidFill>
                <a:schemeClr val="dk1"/>
              </a:solidFill>
              <a:latin typeface="Times New Roman"/>
              <a:ea typeface="Times New Roman"/>
              <a:cs typeface="Times New Roman"/>
              <a:sym typeface="Times New Roman"/>
            </a:endParaRPr>
          </a:p>
          <a:p>
            <a:endParaRPr lang="en-IN" sz="2000" dirty="0">
              <a:solidFill>
                <a:schemeClr val="dk1"/>
              </a:solidFill>
              <a:latin typeface="Times New Roman"/>
              <a:ea typeface="Times New Roman"/>
              <a:cs typeface="Times New Roman"/>
              <a:sym typeface="Times New Roman"/>
            </a:endParaRPr>
          </a:p>
          <a:p>
            <a:endParaRPr lang="en-IN" sz="2000" dirty="0">
              <a:solidFill>
                <a:schemeClr val="dk1"/>
              </a:solidFill>
              <a:latin typeface="Times New Roman"/>
              <a:ea typeface="Times New Roman"/>
              <a:cs typeface="Times New Roman"/>
              <a:sym typeface="Times New Roman"/>
            </a:endParaRPr>
          </a:p>
          <a:p>
            <a:endParaRPr lang="en-US" dirty="0"/>
          </a:p>
          <a:p>
            <a:pPr algn="l"/>
            <a:endParaRPr lang="en-US" dirty="0"/>
          </a:p>
        </p:txBody>
      </p:sp>
      <p:pic>
        <p:nvPicPr>
          <p:cNvPr id="4" name="object 42">
            <a:extLst>
              <a:ext uri="{FF2B5EF4-FFF2-40B4-BE49-F238E27FC236}">
                <a16:creationId xmlns:a16="http://schemas.microsoft.com/office/drawing/2014/main" id="{2E0E8984-6544-3E80-085F-544462ED86B5}"/>
              </a:ext>
            </a:extLst>
          </p:cNvPr>
          <p:cNvPicPr/>
          <p:nvPr/>
        </p:nvPicPr>
        <p:blipFill>
          <a:blip r:embed="rId3" cstate="print"/>
          <a:stretch>
            <a:fillRect/>
          </a:stretch>
        </p:blipFill>
        <p:spPr>
          <a:xfrm>
            <a:off x="4350190" y="753760"/>
            <a:ext cx="1310259" cy="161734"/>
          </a:xfrm>
          <a:prstGeom prst="rect">
            <a:avLst/>
          </a:prstGeom>
        </p:spPr>
      </p:pic>
      <p:pic>
        <p:nvPicPr>
          <p:cNvPr id="5" name="object 51">
            <a:extLst>
              <a:ext uri="{FF2B5EF4-FFF2-40B4-BE49-F238E27FC236}">
                <a16:creationId xmlns:a16="http://schemas.microsoft.com/office/drawing/2014/main" id="{A1919094-03B1-34C1-7B72-7A5CB0038C12}"/>
              </a:ext>
            </a:extLst>
          </p:cNvPr>
          <p:cNvPicPr/>
          <p:nvPr/>
        </p:nvPicPr>
        <p:blipFill>
          <a:blip r:embed="rId4" cstate="print"/>
          <a:stretch>
            <a:fillRect/>
          </a:stretch>
        </p:blipFill>
        <p:spPr>
          <a:xfrm>
            <a:off x="11065765" y="679258"/>
            <a:ext cx="1126235" cy="1069848"/>
          </a:xfrm>
          <a:prstGeom prst="rect">
            <a:avLst/>
          </a:prstGeom>
        </p:spPr>
      </p:pic>
      <p:pic>
        <p:nvPicPr>
          <p:cNvPr id="6" name="object 41">
            <a:extLst>
              <a:ext uri="{FF2B5EF4-FFF2-40B4-BE49-F238E27FC236}">
                <a16:creationId xmlns:a16="http://schemas.microsoft.com/office/drawing/2014/main" id="{FD9A0914-BDAD-6C31-B705-93570E78E70F}"/>
              </a:ext>
            </a:extLst>
          </p:cNvPr>
          <p:cNvPicPr/>
          <p:nvPr/>
        </p:nvPicPr>
        <p:blipFill>
          <a:blip r:embed="rId5" cstate="print"/>
          <a:stretch>
            <a:fillRect/>
          </a:stretch>
        </p:blipFill>
        <p:spPr>
          <a:xfrm>
            <a:off x="39219" y="679258"/>
            <a:ext cx="1243583" cy="1018031"/>
          </a:xfrm>
          <a:prstGeom prst="rect">
            <a:avLst/>
          </a:prstGeom>
        </p:spPr>
      </p:pic>
      <p:pic>
        <p:nvPicPr>
          <p:cNvPr id="7" name="Picture 6">
            <a:extLst>
              <a:ext uri="{FF2B5EF4-FFF2-40B4-BE49-F238E27FC236}">
                <a16:creationId xmlns:a16="http://schemas.microsoft.com/office/drawing/2014/main" id="{1C81ED2E-ED49-FA08-FFFD-A56169A41FF5}"/>
              </a:ext>
            </a:extLst>
          </p:cNvPr>
          <p:cNvPicPr>
            <a:picLocks noChangeAspect="1"/>
          </p:cNvPicPr>
          <p:nvPr/>
        </p:nvPicPr>
        <p:blipFill>
          <a:blip r:embed="rId6"/>
          <a:stretch>
            <a:fillRect/>
          </a:stretch>
        </p:blipFill>
        <p:spPr>
          <a:xfrm>
            <a:off x="4350190" y="1363817"/>
            <a:ext cx="2877561" cy="131069"/>
          </a:xfrm>
          <a:prstGeom prst="rect">
            <a:avLst/>
          </a:prstGeom>
        </p:spPr>
      </p:pic>
      <p:sp>
        <p:nvSpPr>
          <p:cNvPr id="8" name="object 43">
            <a:extLst>
              <a:ext uri="{FF2B5EF4-FFF2-40B4-BE49-F238E27FC236}">
                <a16:creationId xmlns:a16="http://schemas.microsoft.com/office/drawing/2014/main" id="{A2E9F4F8-B56B-8D60-1B4F-BB0E078F7DE8}"/>
              </a:ext>
            </a:extLst>
          </p:cNvPr>
          <p:cNvSpPr/>
          <p:nvPr/>
        </p:nvSpPr>
        <p:spPr>
          <a:xfrm>
            <a:off x="5737525" y="760381"/>
            <a:ext cx="584200" cy="163830"/>
          </a:xfrm>
          <a:custGeom>
            <a:avLst/>
            <a:gdLst/>
            <a:ahLst/>
            <a:cxnLst/>
            <a:rect l="l" t="t" r="r" b="b"/>
            <a:pathLst>
              <a:path w="584200" h="163830">
                <a:moveTo>
                  <a:pt x="215074" y="3048"/>
                </a:moveTo>
                <a:lnTo>
                  <a:pt x="150977" y="3048"/>
                </a:lnTo>
                <a:lnTo>
                  <a:pt x="108305" y="106768"/>
                </a:lnTo>
                <a:lnTo>
                  <a:pt x="64008" y="3048"/>
                </a:lnTo>
                <a:lnTo>
                  <a:pt x="0" y="3048"/>
                </a:lnTo>
                <a:lnTo>
                  <a:pt x="0" y="7620"/>
                </a:lnTo>
                <a:lnTo>
                  <a:pt x="9144" y="7620"/>
                </a:lnTo>
                <a:lnTo>
                  <a:pt x="18288" y="12192"/>
                </a:lnTo>
                <a:lnTo>
                  <a:pt x="21336" y="15240"/>
                </a:lnTo>
                <a:lnTo>
                  <a:pt x="21336" y="144970"/>
                </a:lnTo>
                <a:lnTo>
                  <a:pt x="19812" y="148018"/>
                </a:lnTo>
                <a:lnTo>
                  <a:pt x="18288" y="149542"/>
                </a:lnTo>
                <a:lnTo>
                  <a:pt x="16764" y="152590"/>
                </a:lnTo>
                <a:lnTo>
                  <a:pt x="10668" y="155638"/>
                </a:lnTo>
                <a:lnTo>
                  <a:pt x="7620" y="155638"/>
                </a:lnTo>
                <a:lnTo>
                  <a:pt x="4572" y="157162"/>
                </a:lnTo>
                <a:lnTo>
                  <a:pt x="0" y="157162"/>
                </a:lnTo>
                <a:lnTo>
                  <a:pt x="0" y="161734"/>
                </a:lnTo>
                <a:lnTo>
                  <a:pt x="53340" y="161734"/>
                </a:lnTo>
                <a:lnTo>
                  <a:pt x="53340" y="157162"/>
                </a:lnTo>
                <a:lnTo>
                  <a:pt x="47244" y="157162"/>
                </a:lnTo>
                <a:lnTo>
                  <a:pt x="41148" y="155638"/>
                </a:lnTo>
                <a:lnTo>
                  <a:pt x="38100" y="152590"/>
                </a:lnTo>
                <a:lnTo>
                  <a:pt x="35052" y="151066"/>
                </a:lnTo>
                <a:lnTo>
                  <a:pt x="32004" y="148018"/>
                </a:lnTo>
                <a:lnTo>
                  <a:pt x="32004" y="143446"/>
                </a:lnTo>
                <a:lnTo>
                  <a:pt x="30480" y="141922"/>
                </a:lnTo>
                <a:lnTo>
                  <a:pt x="30480" y="18288"/>
                </a:lnTo>
                <a:lnTo>
                  <a:pt x="91440" y="161734"/>
                </a:lnTo>
                <a:lnTo>
                  <a:pt x="94589" y="161734"/>
                </a:lnTo>
                <a:lnTo>
                  <a:pt x="155549" y="16764"/>
                </a:lnTo>
                <a:lnTo>
                  <a:pt x="155549" y="141922"/>
                </a:lnTo>
                <a:lnTo>
                  <a:pt x="154025" y="146494"/>
                </a:lnTo>
                <a:lnTo>
                  <a:pt x="154025" y="148018"/>
                </a:lnTo>
                <a:lnTo>
                  <a:pt x="152501" y="151066"/>
                </a:lnTo>
                <a:lnTo>
                  <a:pt x="149453" y="154114"/>
                </a:lnTo>
                <a:lnTo>
                  <a:pt x="143357" y="157162"/>
                </a:lnTo>
                <a:lnTo>
                  <a:pt x="132689" y="157162"/>
                </a:lnTo>
                <a:lnTo>
                  <a:pt x="132689" y="161734"/>
                </a:lnTo>
                <a:lnTo>
                  <a:pt x="215074" y="161734"/>
                </a:lnTo>
                <a:lnTo>
                  <a:pt x="215074" y="157162"/>
                </a:lnTo>
                <a:lnTo>
                  <a:pt x="205930" y="157162"/>
                </a:lnTo>
                <a:lnTo>
                  <a:pt x="196697" y="152590"/>
                </a:lnTo>
                <a:lnTo>
                  <a:pt x="193649" y="149542"/>
                </a:lnTo>
                <a:lnTo>
                  <a:pt x="193649" y="15240"/>
                </a:lnTo>
                <a:lnTo>
                  <a:pt x="195173" y="13716"/>
                </a:lnTo>
                <a:lnTo>
                  <a:pt x="196697" y="10668"/>
                </a:lnTo>
                <a:lnTo>
                  <a:pt x="198221" y="10668"/>
                </a:lnTo>
                <a:lnTo>
                  <a:pt x="201358" y="9144"/>
                </a:lnTo>
                <a:lnTo>
                  <a:pt x="205930" y="7620"/>
                </a:lnTo>
                <a:lnTo>
                  <a:pt x="215074" y="7620"/>
                </a:lnTo>
                <a:lnTo>
                  <a:pt x="215074" y="3048"/>
                </a:lnTo>
                <a:close/>
              </a:path>
              <a:path w="584200" h="163830">
                <a:moveTo>
                  <a:pt x="271462" y="12192"/>
                </a:moveTo>
                <a:lnTo>
                  <a:pt x="269938" y="9144"/>
                </a:lnTo>
                <a:lnTo>
                  <a:pt x="266890" y="4572"/>
                </a:lnTo>
                <a:lnTo>
                  <a:pt x="262318" y="1524"/>
                </a:lnTo>
                <a:lnTo>
                  <a:pt x="257746" y="0"/>
                </a:lnTo>
                <a:lnTo>
                  <a:pt x="248602" y="0"/>
                </a:lnTo>
                <a:lnTo>
                  <a:pt x="244030" y="1524"/>
                </a:lnTo>
                <a:lnTo>
                  <a:pt x="240982" y="4572"/>
                </a:lnTo>
                <a:lnTo>
                  <a:pt x="234886" y="13716"/>
                </a:lnTo>
                <a:lnTo>
                  <a:pt x="234886" y="22860"/>
                </a:lnTo>
                <a:lnTo>
                  <a:pt x="237934" y="27432"/>
                </a:lnTo>
                <a:lnTo>
                  <a:pt x="244030" y="33528"/>
                </a:lnTo>
                <a:lnTo>
                  <a:pt x="248602" y="35052"/>
                </a:lnTo>
                <a:lnTo>
                  <a:pt x="257746" y="35052"/>
                </a:lnTo>
                <a:lnTo>
                  <a:pt x="262318" y="33528"/>
                </a:lnTo>
                <a:lnTo>
                  <a:pt x="266890" y="30480"/>
                </a:lnTo>
                <a:lnTo>
                  <a:pt x="269938" y="27432"/>
                </a:lnTo>
                <a:lnTo>
                  <a:pt x="271462" y="22860"/>
                </a:lnTo>
                <a:lnTo>
                  <a:pt x="271462" y="12192"/>
                </a:lnTo>
                <a:close/>
              </a:path>
              <a:path w="584200" h="163830">
                <a:moveTo>
                  <a:pt x="282130" y="157162"/>
                </a:moveTo>
                <a:lnTo>
                  <a:pt x="277558" y="157162"/>
                </a:lnTo>
                <a:lnTo>
                  <a:pt x="274510" y="155638"/>
                </a:lnTo>
                <a:lnTo>
                  <a:pt x="272986" y="152590"/>
                </a:lnTo>
                <a:lnTo>
                  <a:pt x="269938" y="151066"/>
                </a:lnTo>
                <a:lnTo>
                  <a:pt x="269938" y="51816"/>
                </a:lnTo>
                <a:lnTo>
                  <a:pt x="224218" y="51816"/>
                </a:lnTo>
                <a:lnTo>
                  <a:pt x="224218" y="56476"/>
                </a:lnTo>
                <a:lnTo>
                  <a:pt x="228790" y="56476"/>
                </a:lnTo>
                <a:lnTo>
                  <a:pt x="233362" y="58000"/>
                </a:lnTo>
                <a:lnTo>
                  <a:pt x="234886" y="61048"/>
                </a:lnTo>
                <a:lnTo>
                  <a:pt x="236410" y="62572"/>
                </a:lnTo>
                <a:lnTo>
                  <a:pt x="237934" y="67144"/>
                </a:lnTo>
                <a:lnTo>
                  <a:pt x="237934" y="146494"/>
                </a:lnTo>
                <a:lnTo>
                  <a:pt x="236410" y="151066"/>
                </a:lnTo>
                <a:lnTo>
                  <a:pt x="231838" y="155638"/>
                </a:lnTo>
                <a:lnTo>
                  <a:pt x="228790" y="157162"/>
                </a:lnTo>
                <a:lnTo>
                  <a:pt x="224218" y="157162"/>
                </a:lnTo>
                <a:lnTo>
                  <a:pt x="224218" y="161734"/>
                </a:lnTo>
                <a:lnTo>
                  <a:pt x="282130" y="161734"/>
                </a:lnTo>
                <a:lnTo>
                  <a:pt x="282130" y="157162"/>
                </a:lnTo>
                <a:close/>
              </a:path>
              <a:path w="584200" h="163830">
                <a:moveTo>
                  <a:pt x="361480" y="51816"/>
                </a:moveTo>
                <a:lnTo>
                  <a:pt x="335572" y="51816"/>
                </a:lnTo>
                <a:lnTo>
                  <a:pt x="335572" y="12192"/>
                </a:lnTo>
                <a:lnTo>
                  <a:pt x="332524" y="12192"/>
                </a:lnTo>
                <a:lnTo>
                  <a:pt x="328815" y="19659"/>
                </a:lnTo>
                <a:lnTo>
                  <a:pt x="324523" y="26289"/>
                </a:lnTo>
                <a:lnTo>
                  <a:pt x="319671" y="32334"/>
                </a:lnTo>
                <a:lnTo>
                  <a:pt x="314236" y="38100"/>
                </a:lnTo>
                <a:lnTo>
                  <a:pt x="309130" y="43802"/>
                </a:lnTo>
                <a:lnTo>
                  <a:pt x="303136" y="49377"/>
                </a:lnTo>
                <a:lnTo>
                  <a:pt x="296583" y="54673"/>
                </a:lnTo>
                <a:lnTo>
                  <a:pt x="289763" y="59524"/>
                </a:lnTo>
                <a:lnTo>
                  <a:pt x="289763" y="64096"/>
                </a:lnTo>
                <a:lnTo>
                  <a:pt x="303479" y="64096"/>
                </a:lnTo>
                <a:lnTo>
                  <a:pt x="303479" y="141922"/>
                </a:lnTo>
                <a:lnTo>
                  <a:pt x="305003" y="143446"/>
                </a:lnTo>
                <a:lnTo>
                  <a:pt x="324904" y="163258"/>
                </a:lnTo>
                <a:lnTo>
                  <a:pt x="331000" y="163258"/>
                </a:lnTo>
                <a:lnTo>
                  <a:pt x="341337" y="161823"/>
                </a:lnTo>
                <a:lnTo>
                  <a:pt x="349669" y="157543"/>
                </a:lnTo>
                <a:lnTo>
                  <a:pt x="356285" y="150393"/>
                </a:lnTo>
                <a:lnTo>
                  <a:pt x="361480" y="140398"/>
                </a:lnTo>
                <a:lnTo>
                  <a:pt x="358432" y="137350"/>
                </a:lnTo>
                <a:lnTo>
                  <a:pt x="353860" y="144970"/>
                </a:lnTo>
                <a:lnTo>
                  <a:pt x="349288" y="149542"/>
                </a:lnTo>
                <a:lnTo>
                  <a:pt x="343192" y="149542"/>
                </a:lnTo>
                <a:lnTo>
                  <a:pt x="341668" y="148018"/>
                </a:lnTo>
                <a:lnTo>
                  <a:pt x="340144" y="148018"/>
                </a:lnTo>
                <a:lnTo>
                  <a:pt x="337096" y="144970"/>
                </a:lnTo>
                <a:lnTo>
                  <a:pt x="337096" y="141922"/>
                </a:lnTo>
                <a:lnTo>
                  <a:pt x="335572" y="137350"/>
                </a:lnTo>
                <a:lnTo>
                  <a:pt x="335572" y="64096"/>
                </a:lnTo>
                <a:lnTo>
                  <a:pt x="361480" y="64096"/>
                </a:lnTo>
                <a:lnTo>
                  <a:pt x="361480" y="51816"/>
                </a:lnTo>
                <a:close/>
              </a:path>
              <a:path w="584200" h="163830">
                <a:moveTo>
                  <a:pt x="466725" y="59524"/>
                </a:moveTo>
                <a:lnTo>
                  <a:pt x="465201" y="56476"/>
                </a:lnTo>
                <a:lnTo>
                  <a:pt x="462153" y="53428"/>
                </a:lnTo>
                <a:lnTo>
                  <a:pt x="459105" y="50279"/>
                </a:lnTo>
                <a:lnTo>
                  <a:pt x="456057" y="48755"/>
                </a:lnTo>
                <a:lnTo>
                  <a:pt x="446913" y="48755"/>
                </a:lnTo>
                <a:lnTo>
                  <a:pt x="442341" y="50279"/>
                </a:lnTo>
                <a:lnTo>
                  <a:pt x="436245" y="54952"/>
                </a:lnTo>
                <a:lnTo>
                  <a:pt x="431812" y="58000"/>
                </a:lnTo>
                <a:lnTo>
                  <a:pt x="430339" y="59524"/>
                </a:lnTo>
                <a:lnTo>
                  <a:pt x="427101" y="62953"/>
                </a:lnTo>
                <a:lnTo>
                  <a:pt x="422529" y="69519"/>
                </a:lnTo>
                <a:lnTo>
                  <a:pt x="417957" y="77812"/>
                </a:lnTo>
                <a:lnTo>
                  <a:pt x="417957" y="51803"/>
                </a:lnTo>
                <a:lnTo>
                  <a:pt x="373672" y="51803"/>
                </a:lnTo>
                <a:lnTo>
                  <a:pt x="373672" y="56476"/>
                </a:lnTo>
                <a:lnTo>
                  <a:pt x="376720" y="56476"/>
                </a:lnTo>
                <a:lnTo>
                  <a:pt x="379768" y="58000"/>
                </a:lnTo>
                <a:lnTo>
                  <a:pt x="381292" y="59524"/>
                </a:lnTo>
                <a:lnTo>
                  <a:pt x="382816" y="59524"/>
                </a:lnTo>
                <a:lnTo>
                  <a:pt x="382816" y="61048"/>
                </a:lnTo>
                <a:lnTo>
                  <a:pt x="384340" y="64096"/>
                </a:lnTo>
                <a:lnTo>
                  <a:pt x="384340" y="151053"/>
                </a:lnTo>
                <a:lnTo>
                  <a:pt x="382816" y="152577"/>
                </a:lnTo>
                <a:lnTo>
                  <a:pt x="381292" y="155625"/>
                </a:lnTo>
                <a:lnTo>
                  <a:pt x="378244" y="157149"/>
                </a:lnTo>
                <a:lnTo>
                  <a:pt x="373672" y="157149"/>
                </a:lnTo>
                <a:lnTo>
                  <a:pt x="373672" y="161721"/>
                </a:lnTo>
                <a:lnTo>
                  <a:pt x="431673" y="161721"/>
                </a:lnTo>
                <a:lnTo>
                  <a:pt x="431673" y="157149"/>
                </a:lnTo>
                <a:lnTo>
                  <a:pt x="427101" y="157149"/>
                </a:lnTo>
                <a:lnTo>
                  <a:pt x="424053" y="155625"/>
                </a:lnTo>
                <a:lnTo>
                  <a:pt x="422529" y="155625"/>
                </a:lnTo>
                <a:lnTo>
                  <a:pt x="417957" y="151053"/>
                </a:lnTo>
                <a:lnTo>
                  <a:pt x="417957" y="93052"/>
                </a:lnTo>
                <a:lnTo>
                  <a:pt x="421005" y="85432"/>
                </a:lnTo>
                <a:lnTo>
                  <a:pt x="422529" y="80860"/>
                </a:lnTo>
                <a:lnTo>
                  <a:pt x="425577" y="77812"/>
                </a:lnTo>
                <a:lnTo>
                  <a:pt x="430149" y="73240"/>
                </a:lnTo>
                <a:lnTo>
                  <a:pt x="433197" y="71716"/>
                </a:lnTo>
                <a:lnTo>
                  <a:pt x="436245" y="71716"/>
                </a:lnTo>
                <a:lnTo>
                  <a:pt x="439293" y="74764"/>
                </a:lnTo>
                <a:lnTo>
                  <a:pt x="442341" y="76288"/>
                </a:lnTo>
                <a:lnTo>
                  <a:pt x="445389" y="79336"/>
                </a:lnTo>
                <a:lnTo>
                  <a:pt x="449961" y="80860"/>
                </a:lnTo>
                <a:lnTo>
                  <a:pt x="457581" y="80860"/>
                </a:lnTo>
                <a:lnTo>
                  <a:pt x="460629" y="79336"/>
                </a:lnTo>
                <a:lnTo>
                  <a:pt x="462153" y="76288"/>
                </a:lnTo>
                <a:lnTo>
                  <a:pt x="465201" y="73240"/>
                </a:lnTo>
                <a:lnTo>
                  <a:pt x="465963" y="71716"/>
                </a:lnTo>
                <a:lnTo>
                  <a:pt x="466725" y="70192"/>
                </a:lnTo>
                <a:lnTo>
                  <a:pt x="466725" y="59524"/>
                </a:lnTo>
                <a:close/>
              </a:path>
              <a:path w="584200" h="163830">
                <a:moveTo>
                  <a:pt x="584174" y="146481"/>
                </a:moveTo>
                <a:lnTo>
                  <a:pt x="581126" y="143433"/>
                </a:lnTo>
                <a:lnTo>
                  <a:pt x="579602" y="146481"/>
                </a:lnTo>
                <a:lnTo>
                  <a:pt x="576554" y="148005"/>
                </a:lnTo>
                <a:lnTo>
                  <a:pt x="573506" y="148005"/>
                </a:lnTo>
                <a:lnTo>
                  <a:pt x="570458" y="144957"/>
                </a:lnTo>
                <a:lnTo>
                  <a:pt x="570458" y="143433"/>
                </a:lnTo>
                <a:lnTo>
                  <a:pt x="570458" y="100672"/>
                </a:lnTo>
                <a:lnTo>
                  <a:pt x="570458" y="80860"/>
                </a:lnTo>
                <a:lnTo>
                  <a:pt x="568934" y="73240"/>
                </a:lnTo>
                <a:lnTo>
                  <a:pt x="568934" y="70192"/>
                </a:lnTo>
                <a:lnTo>
                  <a:pt x="565886" y="65620"/>
                </a:lnTo>
                <a:lnTo>
                  <a:pt x="562838" y="59524"/>
                </a:lnTo>
                <a:lnTo>
                  <a:pt x="559790" y="58000"/>
                </a:lnTo>
                <a:lnTo>
                  <a:pt x="556742" y="56476"/>
                </a:lnTo>
                <a:lnTo>
                  <a:pt x="551865" y="53301"/>
                </a:lnTo>
                <a:lnTo>
                  <a:pt x="546265" y="50863"/>
                </a:lnTo>
                <a:lnTo>
                  <a:pt x="539813" y="49314"/>
                </a:lnTo>
                <a:lnTo>
                  <a:pt x="532358" y="48755"/>
                </a:lnTo>
                <a:lnTo>
                  <a:pt x="523214" y="48755"/>
                </a:lnTo>
                <a:lnTo>
                  <a:pt x="515493" y="50279"/>
                </a:lnTo>
                <a:lnTo>
                  <a:pt x="508190" y="53301"/>
                </a:lnTo>
                <a:lnTo>
                  <a:pt x="500253" y="56476"/>
                </a:lnTo>
                <a:lnTo>
                  <a:pt x="494157" y="59524"/>
                </a:lnTo>
                <a:lnTo>
                  <a:pt x="489585" y="65620"/>
                </a:lnTo>
                <a:lnTo>
                  <a:pt x="485013" y="70192"/>
                </a:lnTo>
                <a:lnTo>
                  <a:pt x="481965" y="74764"/>
                </a:lnTo>
                <a:lnTo>
                  <a:pt x="481965" y="85432"/>
                </a:lnTo>
                <a:lnTo>
                  <a:pt x="483489" y="88480"/>
                </a:lnTo>
                <a:lnTo>
                  <a:pt x="488061" y="91528"/>
                </a:lnTo>
                <a:lnTo>
                  <a:pt x="491109" y="94576"/>
                </a:lnTo>
                <a:lnTo>
                  <a:pt x="494157" y="96100"/>
                </a:lnTo>
                <a:lnTo>
                  <a:pt x="504825" y="96100"/>
                </a:lnTo>
                <a:lnTo>
                  <a:pt x="507873" y="94576"/>
                </a:lnTo>
                <a:lnTo>
                  <a:pt x="513969" y="88480"/>
                </a:lnTo>
                <a:lnTo>
                  <a:pt x="515493" y="85432"/>
                </a:lnTo>
                <a:lnTo>
                  <a:pt x="515493" y="79336"/>
                </a:lnTo>
                <a:lnTo>
                  <a:pt x="513969" y="76288"/>
                </a:lnTo>
                <a:lnTo>
                  <a:pt x="510921" y="71716"/>
                </a:lnTo>
                <a:lnTo>
                  <a:pt x="507873" y="70192"/>
                </a:lnTo>
                <a:lnTo>
                  <a:pt x="507873" y="62572"/>
                </a:lnTo>
                <a:lnTo>
                  <a:pt x="517017" y="58000"/>
                </a:lnTo>
                <a:lnTo>
                  <a:pt x="526262" y="58000"/>
                </a:lnTo>
                <a:lnTo>
                  <a:pt x="529310" y="59524"/>
                </a:lnTo>
                <a:lnTo>
                  <a:pt x="530834" y="61048"/>
                </a:lnTo>
                <a:lnTo>
                  <a:pt x="533882" y="62572"/>
                </a:lnTo>
                <a:lnTo>
                  <a:pt x="536930" y="65620"/>
                </a:lnTo>
                <a:lnTo>
                  <a:pt x="536930" y="93052"/>
                </a:lnTo>
                <a:lnTo>
                  <a:pt x="536930" y="100672"/>
                </a:lnTo>
                <a:lnTo>
                  <a:pt x="536930" y="135813"/>
                </a:lnTo>
                <a:lnTo>
                  <a:pt x="532358" y="140385"/>
                </a:lnTo>
                <a:lnTo>
                  <a:pt x="527786" y="143433"/>
                </a:lnTo>
                <a:lnTo>
                  <a:pt x="520065" y="143433"/>
                </a:lnTo>
                <a:lnTo>
                  <a:pt x="518541" y="141909"/>
                </a:lnTo>
                <a:lnTo>
                  <a:pt x="515493" y="140385"/>
                </a:lnTo>
                <a:lnTo>
                  <a:pt x="512445" y="134289"/>
                </a:lnTo>
                <a:lnTo>
                  <a:pt x="512445" y="126669"/>
                </a:lnTo>
                <a:lnTo>
                  <a:pt x="536930" y="100672"/>
                </a:lnTo>
                <a:lnTo>
                  <a:pt x="536930" y="93052"/>
                </a:lnTo>
                <a:lnTo>
                  <a:pt x="498259" y="113919"/>
                </a:lnTo>
                <a:lnTo>
                  <a:pt x="480441" y="132765"/>
                </a:lnTo>
                <a:lnTo>
                  <a:pt x="480441" y="148005"/>
                </a:lnTo>
                <a:lnTo>
                  <a:pt x="481965" y="152577"/>
                </a:lnTo>
                <a:lnTo>
                  <a:pt x="486537" y="157149"/>
                </a:lnTo>
                <a:lnTo>
                  <a:pt x="495681" y="163245"/>
                </a:lnTo>
                <a:lnTo>
                  <a:pt x="501777" y="163245"/>
                </a:lnTo>
                <a:lnTo>
                  <a:pt x="510057" y="162102"/>
                </a:lnTo>
                <a:lnTo>
                  <a:pt x="518782" y="158673"/>
                </a:lnTo>
                <a:lnTo>
                  <a:pt x="527799" y="152958"/>
                </a:lnTo>
                <a:lnTo>
                  <a:pt x="536930" y="144957"/>
                </a:lnTo>
                <a:lnTo>
                  <a:pt x="538454" y="151053"/>
                </a:lnTo>
                <a:lnTo>
                  <a:pt x="539978" y="155625"/>
                </a:lnTo>
                <a:lnTo>
                  <a:pt x="544550" y="158673"/>
                </a:lnTo>
                <a:lnTo>
                  <a:pt x="547598" y="161721"/>
                </a:lnTo>
                <a:lnTo>
                  <a:pt x="552170" y="163245"/>
                </a:lnTo>
                <a:lnTo>
                  <a:pt x="564362" y="163245"/>
                </a:lnTo>
                <a:lnTo>
                  <a:pt x="568934" y="161721"/>
                </a:lnTo>
                <a:lnTo>
                  <a:pt x="571982" y="158673"/>
                </a:lnTo>
                <a:lnTo>
                  <a:pt x="581126" y="152577"/>
                </a:lnTo>
                <a:lnTo>
                  <a:pt x="583412" y="148005"/>
                </a:lnTo>
                <a:lnTo>
                  <a:pt x="584174" y="146481"/>
                </a:lnTo>
                <a:close/>
              </a:path>
            </a:pathLst>
          </a:custGeom>
          <a:solidFill>
            <a:srgbClr val="000000"/>
          </a:solidFill>
        </p:spPr>
        <p:txBody>
          <a:bodyPr wrap="square" lIns="0" tIns="0" rIns="0" bIns="0" rtlCol="0"/>
          <a:lstStyle/>
          <a:p>
            <a:endParaRPr/>
          </a:p>
        </p:txBody>
      </p:sp>
      <p:pic>
        <p:nvPicPr>
          <p:cNvPr id="9" name="object 44">
            <a:extLst>
              <a:ext uri="{FF2B5EF4-FFF2-40B4-BE49-F238E27FC236}">
                <a16:creationId xmlns:a16="http://schemas.microsoft.com/office/drawing/2014/main" id="{E6216524-B413-A39A-02FC-4C16D4A57298}"/>
              </a:ext>
            </a:extLst>
          </p:cNvPr>
          <p:cNvPicPr/>
          <p:nvPr/>
        </p:nvPicPr>
        <p:blipFill>
          <a:blip r:embed="rId7" cstate="print"/>
          <a:stretch>
            <a:fillRect/>
          </a:stretch>
        </p:blipFill>
        <p:spPr>
          <a:xfrm>
            <a:off x="6452144" y="771476"/>
            <a:ext cx="950309" cy="164782"/>
          </a:xfrm>
          <a:prstGeom prst="rect">
            <a:avLst/>
          </a:prstGeom>
        </p:spPr>
      </p:pic>
      <p:pic>
        <p:nvPicPr>
          <p:cNvPr id="10" name="object 45">
            <a:extLst>
              <a:ext uri="{FF2B5EF4-FFF2-40B4-BE49-F238E27FC236}">
                <a16:creationId xmlns:a16="http://schemas.microsoft.com/office/drawing/2014/main" id="{060A7C80-3C2F-2B5A-2AE1-65110F69043D}"/>
              </a:ext>
            </a:extLst>
          </p:cNvPr>
          <p:cNvPicPr/>
          <p:nvPr/>
        </p:nvPicPr>
        <p:blipFill>
          <a:blip r:embed="rId8" cstate="print"/>
          <a:stretch>
            <a:fillRect/>
          </a:stretch>
        </p:blipFill>
        <p:spPr>
          <a:xfrm>
            <a:off x="4662242" y="1019463"/>
            <a:ext cx="736758" cy="212169"/>
          </a:xfrm>
          <a:prstGeom prst="rect">
            <a:avLst/>
          </a:prstGeom>
        </p:spPr>
      </p:pic>
      <p:pic>
        <p:nvPicPr>
          <p:cNvPr id="11" name="object 46">
            <a:extLst>
              <a:ext uri="{FF2B5EF4-FFF2-40B4-BE49-F238E27FC236}">
                <a16:creationId xmlns:a16="http://schemas.microsoft.com/office/drawing/2014/main" id="{75B089C3-28BA-B8B6-32BE-F5F1C40FA09A}"/>
              </a:ext>
            </a:extLst>
          </p:cNvPr>
          <p:cNvPicPr/>
          <p:nvPr/>
        </p:nvPicPr>
        <p:blipFill>
          <a:blip r:embed="rId9" cstate="print"/>
          <a:stretch>
            <a:fillRect/>
          </a:stretch>
        </p:blipFill>
        <p:spPr>
          <a:xfrm>
            <a:off x="5443209" y="1002013"/>
            <a:ext cx="1484090" cy="212169"/>
          </a:xfrm>
          <a:prstGeom prst="rect">
            <a:avLst/>
          </a:prstGeom>
        </p:spPr>
      </p:pic>
      <p:pic>
        <p:nvPicPr>
          <p:cNvPr id="12" name="object 48">
            <a:extLst>
              <a:ext uri="{FF2B5EF4-FFF2-40B4-BE49-F238E27FC236}">
                <a16:creationId xmlns:a16="http://schemas.microsoft.com/office/drawing/2014/main" id="{057B7644-A948-98C2-FC42-687C5CE12AEB}"/>
              </a:ext>
            </a:extLst>
          </p:cNvPr>
          <p:cNvPicPr/>
          <p:nvPr/>
        </p:nvPicPr>
        <p:blipFill>
          <a:blip r:embed="rId10" cstate="print"/>
          <a:stretch>
            <a:fillRect/>
          </a:stretch>
        </p:blipFill>
        <p:spPr>
          <a:xfrm>
            <a:off x="3163286" y="1671239"/>
            <a:ext cx="1578768" cy="154209"/>
          </a:xfrm>
          <a:prstGeom prst="rect">
            <a:avLst/>
          </a:prstGeom>
        </p:spPr>
      </p:pic>
      <p:pic>
        <p:nvPicPr>
          <p:cNvPr id="13" name="object 49">
            <a:extLst>
              <a:ext uri="{FF2B5EF4-FFF2-40B4-BE49-F238E27FC236}">
                <a16:creationId xmlns:a16="http://schemas.microsoft.com/office/drawing/2014/main" id="{6AE5DA96-F286-B5D1-7715-F1C51AF92686}"/>
              </a:ext>
            </a:extLst>
          </p:cNvPr>
          <p:cNvPicPr/>
          <p:nvPr/>
        </p:nvPicPr>
        <p:blipFill>
          <a:blip r:embed="rId11" cstate="print"/>
          <a:stretch>
            <a:fillRect/>
          </a:stretch>
        </p:blipFill>
        <p:spPr>
          <a:xfrm>
            <a:off x="4858110" y="1671238"/>
            <a:ext cx="294417" cy="154209"/>
          </a:xfrm>
          <a:prstGeom prst="rect">
            <a:avLst/>
          </a:prstGeom>
        </p:spPr>
      </p:pic>
      <p:pic>
        <p:nvPicPr>
          <p:cNvPr id="14" name="object 50">
            <a:extLst>
              <a:ext uri="{FF2B5EF4-FFF2-40B4-BE49-F238E27FC236}">
                <a16:creationId xmlns:a16="http://schemas.microsoft.com/office/drawing/2014/main" id="{AA4602B5-7A26-17B9-ACE1-9AE5D41FB123}"/>
              </a:ext>
            </a:extLst>
          </p:cNvPr>
          <p:cNvPicPr/>
          <p:nvPr/>
        </p:nvPicPr>
        <p:blipFill>
          <a:blip r:embed="rId12" cstate="print"/>
          <a:stretch>
            <a:fillRect/>
          </a:stretch>
        </p:blipFill>
        <p:spPr>
          <a:xfrm>
            <a:off x="5206218" y="1671239"/>
            <a:ext cx="2963799" cy="155733"/>
          </a:xfrm>
          <a:prstGeom prst="rect">
            <a:avLst/>
          </a:prstGeom>
        </p:spPr>
      </p:pic>
      <p:pic>
        <p:nvPicPr>
          <p:cNvPr id="15" name="object 2">
            <a:extLst>
              <a:ext uri="{FF2B5EF4-FFF2-40B4-BE49-F238E27FC236}">
                <a16:creationId xmlns:a16="http://schemas.microsoft.com/office/drawing/2014/main" id="{95299F3B-F38F-2852-824A-1F04271B8493}"/>
              </a:ext>
            </a:extLst>
          </p:cNvPr>
          <p:cNvPicPr/>
          <p:nvPr/>
        </p:nvPicPr>
        <p:blipFill>
          <a:blip r:embed="rId13" cstate="print"/>
          <a:stretch>
            <a:fillRect/>
          </a:stretch>
        </p:blipFill>
        <p:spPr>
          <a:xfrm>
            <a:off x="5192898" y="2026561"/>
            <a:ext cx="1188244" cy="232029"/>
          </a:xfrm>
          <a:prstGeom prst="rect">
            <a:avLst/>
          </a:prstGeom>
        </p:spPr>
      </p:pic>
      <p:pic>
        <p:nvPicPr>
          <p:cNvPr id="23" name="object 10">
            <a:extLst>
              <a:ext uri="{FF2B5EF4-FFF2-40B4-BE49-F238E27FC236}">
                <a16:creationId xmlns:a16="http://schemas.microsoft.com/office/drawing/2014/main" id="{80A2C8DE-E4B4-D8E8-7A61-9853169316B7}"/>
              </a:ext>
            </a:extLst>
          </p:cNvPr>
          <p:cNvPicPr/>
          <p:nvPr/>
        </p:nvPicPr>
        <p:blipFill>
          <a:blip r:embed="rId14" cstate="print"/>
          <a:stretch>
            <a:fillRect/>
          </a:stretch>
        </p:blipFill>
        <p:spPr>
          <a:xfrm>
            <a:off x="5443209" y="3036191"/>
            <a:ext cx="437770" cy="152536"/>
          </a:xfrm>
          <a:prstGeom prst="rect">
            <a:avLst/>
          </a:prstGeom>
        </p:spPr>
      </p:pic>
      <p:sp>
        <p:nvSpPr>
          <p:cNvPr id="24" name="TextBox 23">
            <a:extLst>
              <a:ext uri="{FF2B5EF4-FFF2-40B4-BE49-F238E27FC236}">
                <a16:creationId xmlns:a16="http://schemas.microsoft.com/office/drawing/2014/main" id="{23EC724A-8015-5EDF-11C1-2562DD558481}"/>
              </a:ext>
            </a:extLst>
          </p:cNvPr>
          <p:cNvSpPr txBox="1"/>
          <p:nvPr/>
        </p:nvSpPr>
        <p:spPr>
          <a:xfrm>
            <a:off x="4390338" y="2282911"/>
            <a:ext cx="2981282" cy="707886"/>
          </a:xfrm>
          <a:prstGeom prst="rect">
            <a:avLst/>
          </a:prstGeom>
          <a:noFill/>
        </p:spPr>
        <p:txBody>
          <a:bodyPr wrap="square" rtlCol="0">
            <a:spAutoFit/>
          </a:bodyPr>
          <a:lstStyle/>
          <a:p>
            <a:r>
              <a:rPr lang="en-US" sz="4000" b="1" dirty="0">
                <a:solidFill>
                  <a:srgbClr val="FF0000"/>
                </a:solidFill>
                <a:latin typeface="Times New Roman" panose="02020603050405020304" pitchFamily="18" charset="0"/>
                <a:cs typeface="Times New Roman" panose="02020603050405020304" pitchFamily="18" charset="0"/>
              </a:rPr>
              <a:t>REVIEW 3</a:t>
            </a:r>
            <a:endParaRPr lang="en-IN" sz="4000"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340346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C660B9-817B-86A9-ACF4-53B81AE589B7}"/>
              </a:ext>
            </a:extLst>
          </p:cNvPr>
          <p:cNvSpPr>
            <a:spLocks noGrp="1"/>
          </p:cNvSpPr>
          <p:nvPr>
            <p:ph type="ctrTitle"/>
          </p:nvPr>
        </p:nvSpPr>
        <p:spPr>
          <a:xfrm>
            <a:off x="1524000" y="140001"/>
            <a:ext cx="9144000" cy="795171"/>
          </a:xfrm>
        </p:spPr>
        <p:txBody>
          <a:bodyPr>
            <a:normAutofit/>
          </a:bodyPr>
          <a:lstStyle/>
          <a:p>
            <a:r>
              <a:rPr lang="en-US" sz="3200" b="1" u="sng" dirty="0">
                <a:latin typeface="Times New Roman" panose="02020603050405020304" pitchFamily="18" charset="0"/>
                <a:cs typeface="Times New Roman" panose="02020603050405020304" pitchFamily="18" charset="0"/>
              </a:rPr>
              <a:t>Agenda</a:t>
            </a:r>
            <a:endParaRPr lang="en-IN" sz="3200" b="1" u="sng"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85C57184-CA6D-BEC7-0D51-6947F4BF777E}"/>
              </a:ext>
            </a:extLst>
          </p:cNvPr>
          <p:cNvSpPr>
            <a:spLocks noGrp="1"/>
          </p:cNvSpPr>
          <p:nvPr>
            <p:ph type="subTitle" idx="1"/>
          </p:nvPr>
        </p:nvSpPr>
        <p:spPr>
          <a:xfrm>
            <a:off x="281354" y="1193241"/>
            <a:ext cx="11354637" cy="5524757"/>
          </a:xfrm>
        </p:spPr>
        <p:txBody>
          <a:bodyPr>
            <a:noAutofit/>
          </a:bodyPr>
          <a:lstStyle/>
          <a:p>
            <a:pPr marL="342900" indent="-342900" algn="l" fontAlgn="base">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Introduction</a:t>
            </a:r>
          </a:p>
          <a:p>
            <a:pPr marL="342900" indent="-342900" algn="l" fontAlgn="base">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Motivation</a:t>
            </a:r>
          </a:p>
          <a:p>
            <a:pPr marL="342900" indent="-342900" algn="l" fontAlgn="base">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Problem Statement </a:t>
            </a:r>
          </a:p>
          <a:p>
            <a:pPr marL="342900" indent="-342900" algn="l" fontAlgn="base">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Scope &amp; Objectives</a:t>
            </a:r>
          </a:p>
          <a:p>
            <a:pPr marL="342900" indent="-342900" algn="l" fontAlgn="base">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Literature Survey </a:t>
            </a:r>
          </a:p>
          <a:p>
            <a:pPr marL="342900" indent="-342900" algn="l" fontAlgn="base">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Software/Hardware required</a:t>
            </a:r>
          </a:p>
          <a:p>
            <a:pPr marL="342900" indent="-342900" algn="l" fontAlgn="base">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Proposed System Architecture &amp; Algorithm</a:t>
            </a:r>
          </a:p>
          <a:p>
            <a:pPr marL="342900" indent="-342900" algn="l" fontAlgn="base">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Implementation and Result Analysis</a:t>
            </a:r>
          </a:p>
          <a:p>
            <a:pPr marL="342900" indent="-342900" algn="l" fontAlgn="base">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Conclusion</a:t>
            </a:r>
          </a:p>
          <a:p>
            <a:pPr marL="342900" indent="-342900" algn="l" fontAlgn="base">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Report</a:t>
            </a:r>
          </a:p>
          <a:p>
            <a:pPr marL="342900" indent="-342900" algn="l" fontAlgn="base">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References</a:t>
            </a:r>
          </a:p>
        </p:txBody>
      </p:sp>
    </p:spTree>
    <p:extLst>
      <p:ext uri="{BB962C8B-B14F-4D97-AF65-F5344CB8AC3E}">
        <p14:creationId xmlns:p14="http://schemas.microsoft.com/office/powerpoint/2010/main" val="11753766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64CB5-4449-92FF-0BE3-CB90BC7CA33F}"/>
              </a:ext>
            </a:extLst>
          </p:cNvPr>
          <p:cNvSpPr>
            <a:spLocks noGrp="1"/>
          </p:cNvSpPr>
          <p:nvPr>
            <p:ph type="title"/>
          </p:nvPr>
        </p:nvSpPr>
        <p:spPr>
          <a:xfrm>
            <a:off x="948732" y="190919"/>
            <a:ext cx="10515600" cy="937062"/>
          </a:xfrm>
        </p:spPr>
        <p:txBody>
          <a:bodyPr>
            <a:normAutofit/>
          </a:bodyPr>
          <a:lstStyle/>
          <a:p>
            <a:pPr marL="514350" indent="-514350">
              <a:buFont typeface="+mj-lt"/>
              <a:buAutoNum type="arabicPeriod"/>
            </a:pPr>
            <a:r>
              <a:rPr lang="en-US" sz="2800" b="1" u="sng" dirty="0">
                <a:latin typeface="Times New Roman" panose="02020603050405020304" pitchFamily="18" charset="0"/>
                <a:cs typeface="Times New Roman" panose="02020603050405020304" pitchFamily="18" charset="0"/>
              </a:rPr>
              <a:t>Introduction</a:t>
            </a:r>
            <a:endParaRPr lang="en-IN" sz="2800" b="1" u="sng"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4C9771F-C8A9-D9AE-1182-85D257383D25}"/>
              </a:ext>
            </a:extLst>
          </p:cNvPr>
          <p:cNvSpPr>
            <a:spLocks noGrp="1"/>
          </p:cNvSpPr>
          <p:nvPr>
            <p:ph idx="1"/>
          </p:nvPr>
        </p:nvSpPr>
        <p:spPr>
          <a:xfrm>
            <a:off x="948732" y="1494030"/>
            <a:ext cx="10515600" cy="4172220"/>
          </a:xfrm>
        </p:spPr>
        <p:txBody>
          <a:bodyPr>
            <a:normAutofit/>
          </a:bodyPr>
          <a:lstStyle/>
          <a:p>
            <a:r>
              <a:rPr lang="en-US" sz="1800" b="1" dirty="0">
                <a:latin typeface="Times New Roman" panose="02020603050405020304" pitchFamily="18" charset="0"/>
                <a:cs typeface="Times New Roman" panose="02020603050405020304" pitchFamily="18" charset="0"/>
              </a:rPr>
              <a:t>Problem:</a:t>
            </a:r>
            <a:r>
              <a:rPr lang="en-US" sz="1800" dirty="0">
                <a:latin typeface="Times New Roman" panose="02020603050405020304" pitchFamily="18" charset="0"/>
                <a:cs typeface="Times New Roman" panose="02020603050405020304" pitchFamily="18" charset="0"/>
              </a:rPr>
              <a:t> Crop yield reduces due to diseases, pests, and poor conditions. Traditional manual estimation is slow, inaccurate, and not real-time.</a:t>
            </a:r>
          </a:p>
          <a:p>
            <a:r>
              <a:rPr lang="en-US" sz="1800" b="1" dirty="0">
                <a:latin typeface="Times New Roman" panose="02020603050405020304" pitchFamily="18" charset="0"/>
                <a:cs typeface="Times New Roman" panose="02020603050405020304" pitchFamily="18" charset="0"/>
              </a:rPr>
              <a:t>Solution:</a:t>
            </a:r>
            <a:r>
              <a:rPr lang="en-US" sz="1800" dirty="0">
                <a:latin typeface="Times New Roman" panose="02020603050405020304" pitchFamily="18" charset="0"/>
                <a:cs typeface="Times New Roman" panose="02020603050405020304" pitchFamily="18" charset="0"/>
              </a:rPr>
              <a:t> AI-based methods using deep learning models (CNNs, YOLO) analyze crop images to detect disease severity and estimate yield loss automatically.</a:t>
            </a:r>
          </a:p>
          <a:p>
            <a:r>
              <a:rPr lang="en-US" sz="1800" b="1" dirty="0">
                <a:latin typeface="Times New Roman" panose="02020603050405020304" pitchFamily="18" charset="0"/>
                <a:cs typeface="Times New Roman" panose="02020603050405020304" pitchFamily="18" charset="0"/>
              </a:rPr>
              <a:t>Purpose: </a:t>
            </a:r>
            <a:r>
              <a:rPr lang="en-US" altLang="en-US" sz="1800" dirty="0">
                <a:latin typeface="Times New Roman" panose="02020603050405020304" pitchFamily="18" charset="0"/>
                <a:cs typeface="Times New Roman" panose="02020603050405020304" pitchFamily="18" charset="0"/>
              </a:rPr>
              <a:t>This technology is used for three main goals:</a:t>
            </a:r>
          </a:p>
          <a:p>
            <a:pPr marL="342900" indent="-342900">
              <a:buFont typeface="+mj-lt"/>
              <a:buAutoNum type="arabicPeriod"/>
            </a:pPr>
            <a:r>
              <a:rPr lang="en-US" sz="1800" b="1" dirty="0">
                <a:latin typeface="Times New Roman" panose="02020603050405020304" pitchFamily="18" charset="0"/>
                <a:cs typeface="Times New Roman" panose="02020603050405020304" pitchFamily="18" charset="0"/>
              </a:rPr>
              <a:t>Automate Crop Disease Detection: </a:t>
            </a:r>
            <a:r>
              <a:rPr lang="en-US" sz="1800" dirty="0">
                <a:latin typeface="Times New Roman" panose="02020603050405020304" pitchFamily="18" charset="0"/>
                <a:cs typeface="Times New Roman" panose="02020603050405020304" pitchFamily="18" charset="0"/>
              </a:rPr>
              <a:t>Use AI models to automatically detect and classify plant diseases from images.</a:t>
            </a:r>
          </a:p>
          <a:p>
            <a:pPr marL="342900" indent="-342900">
              <a:buFont typeface="+mj-lt"/>
              <a:buAutoNum type="arabicPeriod"/>
            </a:pPr>
            <a:r>
              <a:rPr lang="en-US" sz="1800" b="1" dirty="0">
                <a:latin typeface="Times New Roman" panose="02020603050405020304" pitchFamily="18" charset="0"/>
                <a:cs typeface="Times New Roman" panose="02020603050405020304" pitchFamily="18" charset="0"/>
              </a:rPr>
              <a:t>Estimate Disease Severity and Yield Loss: </a:t>
            </a:r>
            <a:r>
              <a:rPr lang="en-US" sz="1800" dirty="0">
                <a:latin typeface="Times New Roman" panose="02020603050405020304" pitchFamily="18" charset="0"/>
                <a:cs typeface="Times New Roman" panose="02020603050405020304" pitchFamily="18" charset="0"/>
              </a:rPr>
              <a:t>Accurately measure how much the disease affects crop yield in real time.</a:t>
            </a:r>
          </a:p>
          <a:p>
            <a:pPr marL="342900" indent="-342900">
              <a:buFont typeface="+mj-lt"/>
              <a:buAutoNum type="arabicPeriod"/>
            </a:pPr>
            <a:r>
              <a:rPr lang="en-US" sz="1800" b="1" dirty="0">
                <a:latin typeface="Times New Roman" panose="02020603050405020304" pitchFamily="18" charset="0"/>
                <a:cs typeface="Times New Roman" panose="02020603050405020304" pitchFamily="18" charset="0"/>
              </a:rPr>
              <a:t>Support Informed Decision-Making: </a:t>
            </a:r>
            <a:r>
              <a:rPr lang="en-US" sz="1800" dirty="0">
                <a:latin typeface="Times New Roman" panose="02020603050405020304" pitchFamily="18" charset="0"/>
                <a:cs typeface="Times New Roman" panose="02020603050405020304" pitchFamily="18" charset="0"/>
              </a:rPr>
              <a:t>Provide reliable data to help farmers take timely actions for disease management and improve crop productivity.</a:t>
            </a:r>
          </a:p>
          <a:p>
            <a:pPr marL="0" indent="0">
              <a:buNone/>
            </a:pPr>
            <a:endParaRPr lang="en-US" altLang="en-US" sz="1800" dirty="0">
              <a:latin typeface="Times New Roman" panose="02020603050405020304" pitchFamily="18" charset="0"/>
              <a:cs typeface="Times New Roman" panose="02020603050405020304" pitchFamily="18" charset="0"/>
            </a:endParaRPr>
          </a:p>
          <a:p>
            <a:endParaRPr lang="en-IN" sz="1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826855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7EB9EE-B2B7-084A-718C-CF04502EE06B}"/>
              </a:ext>
            </a:extLst>
          </p:cNvPr>
          <p:cNvSpPr>
            <a:spLocks noGrp="1"/>
          </p:cNvSpPr>
          <p:nvPr>
            <p:ph type="title"/>
          </p:nvPr>
        </p:nvSpPr>
        <p:spPr>
          <a:xfrm>
            <a:off x="838200" y="262748"/>
            <a:ext cx="10515600" cy="836578"/>
          </a:xfrm>
        </p:spPr>
        <p:txBody>
          <a:bodyPr>
            <a:normAutofit/>
          </a:bodyPr>
          <a:lstStyle/>
          <a:p>
            <a:r>
              <a:rPr lang="en-US" sz="2800" b="1" dirty="0">
                <a:latin typeface="Times New Roman" panose="02020603050405020304" pitchFamily="18" charset="0"/>
                <a:cs typeface="Times New Roman" panose="02020603050405020304" pitchFamily="18" charset="0"/>
              </a:rPr>
              <a:t>2. </a:t>
            </a:r>
            <a:r>
              <a:rPr lang="en-US" sz="2800" b="1" u="sng" dirty="0">
                <a:latin typeface="Times New Roman" panose="02020603050405020304" pitchFamily="18" charset="0"/>
                <a:cs typeface="Times New Roman" panose="02020603050405020304" pitchFamily="18" charset="0"/>
              </a:rPr>
              <a:t>Motivation</a:t>
            </a:r>
            <a:endParaRPr lang="en-IN" sz="2800" b="1" u="sng"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D3E1821-2324-6F23-6B5B-9E6AC3D6F9F6}"/>
              </a:ext>
            </a:extLst>
          </p:cNvPr>
          <p:cNvSpPr>
            <a:spLocks noGrp="1"/>
          </p:cNvSpPr>
          <p:nvPr>
            <p:ph idx="1"/>
          </p:nvPr>
        </p:nvSpPr>
        <p:spPr>
          <a:xfrm>
            <a:off x="838199" y="1825623"/>
            <a:ext cx="10626969" cy="4032565"/>
          </a:xfrm>
        </p:spPr>
        <p:txBody>
          <a:bodyPr>
            <a:normAutofit/>
          </a:bodyPr>
          <a:lstStyle/>
          <a:p>
            <a:r>
              <a:rPr lang="en-US" altLang="en-US" sz="1800" b="1" dirty="0">
                <a:solidFill>
                  <a:srgbClr val="1B1C1D"/>
                </a:solidFill>
                <a:latin typeface="Times New Roman" panose="02020603050405020304" pitchFamily="18" charset="0"/>
                <a:cs typeface="Times New Roman" panose="02020603050405020304" pitchFamily="18" charset="0"/>
              </a:rPr>
              <a:t>Problem:</a:t>
            </a:r>
            <a:r>
              <a:rPr lang="en-US" altLang="en-US" sz="1800" dirty="0">
                <a:solidFill>
                  <a:srgbClr val="1B1C1D"/>
                </a:solidFill>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Farmers face yield losses due to diseases, pests, and environmental factors, but current estimation methods are manual, slow, and inaccurate.</a:t>
            </a:r>
          </a:p>
          <a:p>
            <a:r>
              <a:rPr lang="en-US" altLang="en-US" sz="1800" b="1" dirty="0">
                <a:solidFill>
                  <a:srgbClr val="1B1C1D"/>
                </a:solidFill>
                <a:latin typeface="Times New Roman" panose="02020603050405020304" pitchFamily="18" charset="0"/>
                <a:cs typeface="Times New Roman" panose="02020603050405020304" pitchFamily="18" charset="0"/>
              </a:rPr>
              <a:t>Why it's important:</a:t>
            </a:r>
            <a:r>
              <a:rPr lang="en-US" altLang="en-US" sz="1800" dirty="0">
                <a:solidFill>
                  <a:srgbClr val="1B1C1D"/>
                </a:solidFill>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Accurate yield loss estimation helps improve food security, reduce economic losses, enable early interventions, and support sustainable farming.</a:t>
            </a:r>
            <a:endParaRPr lang="en-US" altLang="en-US" sz="1800" dirty="0">
              <a:solidFill>
                <a:srgbClr val="1B1C1D"/>
              </a:solidFill>
              <a:latin typeface="Times New Roman" panose="02020603050405020304" pitchFamily="18" charset="0"/>
              <a:cs typeface="Times New Roman" panose="02020603050405020304" pitchFamily="18" charset="0"/>
            </a:endParaRPr>
          </a:p>
          <a:p>
            <a:r>
              <a:rPr lang="en-US" altLang="en-US" sz="1800" b="1" dirty="0">
                <a:solidFill>
                  <a:srgbClr val="1B1C1D"/>
                </a:solidFill>
                <a:latin typeface="Times New Roman" panose="02020603050405020304" pitchFamily="18" charset="0"/>
                <a:cs typeface="Times New Roman" panose="02020603050405020304" pitchFamily="18" charset="0"/>
              </a:rPr>
              <a:t>Solution:</a:t>
            </a:r>
            <a:r>
              <a:rPr lang="en-US" altLang="en-US" sz="1800" dirty="0">
                <a:solidFill>
                  <a:srgbClr val="1B1C1D"/>
                </a:solidFill>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Use AI techniques (CNNs, Transformers, Segmentation) to automatically analyze field images and estimate yield loss in real time, making it fast, cost-effective, and accessible.</a:t>
            </a:r>
            <a:endParaRPr lang="en-US" altLang="en-US" sz="1800" dirty="0">
              <a:solidFill>
                <a:srgbClr val="1B1C1D"/>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11559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20A51-D1CB-16E5-4E7E-49664763B703}"/>
              </a:ext>
            </a:extLst>
          </p:cNvPr>
          <p:cNvSpPr>
            <a:spLocks noGrp="1"/>
          </p:cNvSpPr>
          <p:nvPr>
            <p:ph type="title"/>
          </p:nvPr>
        </p:nvSpPr>
        <p:spPr>
          <a:xfrm>
            <a:off x="838200" y="0"/>
            <a:ext cx="10515600" cy="793819"/>
          </a:xfrm>
        </p:spPr>
        <p:txBody>
          <a:bodyPr>
            <a:normAutofit/>
          </a:bodyPr>
          <a:lstStyle/>
          <a:p>
            <a:r>
              <a:rPr lang="en-US" sz="2800" b="1" dirty="0">
                <a:latin typeface="Times New Roman" panose="02020603050405020304" pitchFamily="18" charset="0"/>
                <a:cs typeface="Times New Roman" panose="02020603050405020304" pitchFamily="18" charset="0"/>
              </a:rPr>
              <a:t>3. </a:t>
            </a:r>
            <a:r>
              <a:rPr lang="en-US" sz="2800" b="1" u="sng" dirty="0">
                <a:latin typeface="Times New Roman" panose="02020603050405020304" pitchFamily="18" charset="0"/>
                <a:cs typeface="Times New Roman" panose="02020603050405020304" pitchFamily="18" charset="0"/>
              </a:rPr>
              <a:t>Problem Statement</a:t>
            </a:r>
            <a:endParaRPr lang="en-IN" sz="2800" b="1" u="sng"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F386538-D338-1999-E17A-09852336FEB2}"/>
              </a:ext>
            </a:extLst>
          </p:cNvPr>
          <p:cNvSpPr>
            <a:spLocks noGrp="1"/>
          </p:cNvSpPr>
          <p:nvPr>
            <p:ph idx="1"/>
          </p:nvPr>
        </p:nvSpPr>
        <p:spPr>
          <a:xfrm>
            <a:off x="542611" y="1266093"/>
            <a:ext cx="10811189" cy="3285810"/>
          </a:xfrm>
        </p:spPr>
        <p:txBody>
          <a:bodyPr>
            <a:normAutofit/>
          </a:bodyPr>
          <a:lstStyle/>
          <a:p>
            <a:pPr marL="0" indent="0">
              <a:lnSpc>
                <a:spcPct val="150000"/>
              </a:lnSpc>
              <a:buNone/>
            </a:pPr>
            <a:r>
              <a:rPr lang="en-US" sz="2400" dirty="0">
                <a:latin typeface="Times New Roman" panose="02020603050405020304" pitchFamily="18" charset="0"/>
                <a:cs typeface="Times New Roman" panose="02020603050405020304" pitchFamily="18" charset="0"/>
              </a:rPr>
              <a:t>Manual methods for estimating crop yield loss caused by diseases and pests are often time-consuming, inaccurate, and costly, resulting in poor decision-making and significant agricultural losses.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28691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811F42-E859-AD65-5C2D-E3611114E83E}"/>
              </a:ext>
            </a:extLst>
          </p:cNvPr>
          <p:cNvSpPr>
            <a:spLocks noGrp="1"/>
          </p:cNvSpPr>
          <p:nvPr>
            <p:ph type="title"/>
          </p:nvPr>
        </p:nvSpPr>
        <p:spPr>
          <a:xfrm>
            <a:off x="838200" y="123965"/>
            <a:ext cx="10515600" cy="679903"/>
          </a:xfrm>
        </p:spPr>
        <p:txBody>
          <a:bodyPr>
            <a:normAutofit/>
          </a:bodyPr>
          <a:lstStyle/>
          <a:p>
            <a:r>
              <a:rPr lang="en-US" sz="2800" b="1" dirty="0">
                <a:latin typeface="Times New Roman" panose="02020603050405020304" pitchFamily="18" charset="0"/>
                <a:cs typeface="Times New Roman" panose="02020603050405020304" pitchFamily="18" charset="0"/>
              </a:rPr>
              <a:t>4. </a:t>
            </a:r>
            <a:r>
              <a:rPr lang="en-US" sz="2800" b="1" u="sng" dirty="0">
                <a:latin typeface="Times New Roman" panose="02020603050405020304" pitchFamily="18" charset="0"/>
                <a:cs typeface="Times New Roman" panose="02020603050405020304" pitchFamily="18" charset="0"/>
              </a:rPr>
              <a:t>Scope &amp; Objectives</a:t>
            </a:r>
            <a:endParaRPr lang="en-IN" sz="2800" b="1" u="sng"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3311BFB-5CF2-7FA1-3603-C41F7A8507FC}"/>
              </a:ext>
            </a:extLst>
          </p:cNvPr>
          <p:cNvSpPr>
            <a:spLocks noGrp="1"/>
          </p:cNvSpPr>
          <p:nvPr>
            <p:ph idx="1"/>
          </p:nvPr>
        </p:nvSpPr>
        <p:spPr>
          <a:xfrm>
            <a:off x="422031" y="924448"/>
            <a:ext cx="11475217" cy="5536642"/>
          </a:xfrm>
        </p:spPr>
        <p:txBody>
          <a:bodyPr>
            <a:normAutofit/>
          </a:bodyPr>
          <a:lstStyle/>
          <a:p>
            <a:r>
              <a:rPr lang="en-US" sz="2400" b="1" u="sng" dirty="0">
                <a:latin typeface="Times New Roman" panose="02020603050405020304" pitchFamily="18" charset="0"/>
                <a:cs typeface="Times New Roman" panose="02020603050405020304" pitchFamily="18" charset="0"/>
              </a:rPr>
              <a:t>Scope:</a:t>
            </a:r>
            <a:r>
              <a:rPr lang="en-US" sz="2400" b="1"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Here is a similar style set of points for yield loss estimation:</a:t>
            </a:r>
          </a:p>
          <a:p>
            <a:pPr>
              <a:buFont typeface="Courier New" panose="02070309020205020404" pitchFamily="49" charset="0"/>
              <a:buChar char="o"/>
            </a:pPr>
            <a:r>
              <a:rPr lang="en-US" sz="1800" dirty="0">
                <a:latin typeface="Times New Roman" panose="02020603050405020304" pitchFamily="18" charset="0"/>
                <a:cs typeface="Times New Roman" panose="02020603050405020304" pitchFamily="18" charset="0"/>
              </a:rPr>
              <a:t>Develop a system to estimate crop yield loss using AI.</a:t>
            </a:r>
          </a:p>
          <a:p>
            <a:pPr>
              <a:buFont typeface="Courier New" panose="02070309020205020404" pitchFamily="49" charset="0"/>
              <a:buChar char="o"/>
            </a:pPr>
            <a:r>
              <a:rPr lang="en-US" sz="1800" dirty="0">
                <a:latin typeface="Times New Roman" panose="02020603050405020304" pitchFamily="18" charset="0"/>
                <a:cs typeface="Times New Roman" panose="02020603050405020304" pitchFamily="18" charset="0"/>
              </a:rPr>
              <a:t>Detect plant diseases and measure their severity.</a:t>
            </a:r>
          </a:p>
          <a:p>
            <a:pPr>
              <a:buFont typeface="Courier New" panose="02070309020205020404" pitchFamily="49" charset="0"/>
              <a:buChar char="o"/>
            </a:pPr>
            <a:r>
              <a:rPr lang="en-US" sz="1800" dirty="0">
                <a:latin typeface="Times New Roman" panose="02020603050405020304" pitchFamily="18" charset="0"/>
                <a:cs typeface="Times New Roman" panose="02020603050405020304" pitchFamily="18" charset="0"/>
              </a:rPr>
              <a:t>Apply deep learning and statistical models for prediction.</a:t>
            </a:r>
          </a:p>
          <a:p>
            <a:pPr>
              <a:buFont typeface="Courier New" panose="02070309020205020404" pitchFamily="49" charset="0"/>
              <a:buChar char="o"/>
            </a:pPr>
            <a:r>
              <a:rPr lang="en-US" sz="1800" dirty="0">
                <a:latin typeface="Times New Roman" panose="02020603050405020304" pitchFamily="18" charset="0"/>
                <a:cs typeface="Times New Roman" panose="02020603050405020304" pitchFamily="18" charset="0"/>
              </a:rPr>
              <a:t>Evaluate the system for accuracy and practical use in farming.</a:t>
            </a:r>
          </a:p>
          <a:p>
            <a:pPr marL="0" indent="0">
              <a:buNone/>
            </a:pPr>
            <a:endParaRPr lang="en-US" sz="1800" dirty="0">
              <a:latin typeface="Times New Roman" panose="02020603050405020304" pitchFamily="18" charset="0"/>
              <a:cs typeface="Times New Roman" panose="02020603050405020304" pitchFamily="18" charset="0"/>
            </a:endParaRPr>
          </a:p>
          <a:p>
            <a:r>
              <a:rPr lang="en-IN" sz="2400" b="1" u="sng" dirty="0">
                <a:latin typeface="Times New Roman" panose="02020603050405020304" pitchFamily="18" charset="0"/>
                <a:cs typeface="Times New Roman" panose="02020603050405020304" pitchFamily="18" charset="0"/>
              </a:rPr>
              <a:t>Objectives:</a:t>
            </a:r>
            <a:endParaRPr lang="en-IN" sz="2400" u="sng" dirty="0">
              <a:latin typeface="Times New Roman" panose="02020603050405020304" pitchFamily="18" charset="0"/>
              <a:cs typeface="Times New Roman" panose="02020603050405020304" pitchFamily="18" charset="0"/>
            </a:endParaRPr>
          </a:p>
          <a:p>
            <a:pPr>
              <a:buFont typeface="Courier New" panose="02070309020205020404" pitchFamily="49" charset="0"/>
              <a:buChar char="o"/>
            </a:pPr>
            <a:r>
              <a:rPr lang="en-IN" sz="1800" dirty="0" err="1">
                <a:latin typeface="Times New Roman" panose="02020603050405020304" pitchFamily="18" charset="0"/>
                <a:cs typeface="Times New Roman" panose="02020603050405020304" pitchFamily="18" charset="0"/>
              </a:rPr>
              <a:t>Analyze</a:t>
            </a:r>
            <a:r>
              <a:rPr lang="en-IN" sz="1800" dirty="0">
                <a:latin typeface="Times New Roman" panose="02020603050405020304" pitchFamily="18" charset="0"/>
                <a:cs typeface="Times New Roman" panose="02020603050405020304" pitchFamily="18" charset="0"/>
              </a:rPr>
              <a:t> disease severity and yield loss relationship</a:t>
            </a:r>
          </a:p>
          <a:p>
            <a:pPr>
              <a:buFont typeface="Courier New" panose="02070309020205020404" pitchFamily="49" charset="0"/>
              <a:buChar char="o"/>
            </a:pPr>
            <a:r>
              <a:rPr lang="en-IN" sz="1800" dirty="0">
                <a:latin typeface="Times New Roman" panose="02020603050405020304" pitchFamily="18" charset="0"/>
                <a:cs typeface="Times New Roman" panose="02020603050405020304" pitchFamily="18" charset="0"/>
              </a:rPr>
              <a:t>Implement AI/ML-based yield estimation model</a:t>
            </a:r>
          </a:p>
          <a:p>
            <a:pPr>
              <a:buFont typeface="Courier New" panose="02070309020205020404" pitchFamily="49" charset="0"/>
              <a:buChar char="o"/>
            </a:pPr>
            <a:r>
              <a:rPr lang="en-IN" sz="1800" dirty="0">
                <a:latin typeface="Times New Roman" panose="02020603050405020304" pitchFamily="18" charset="0"/>
                <a:cs typeface="Times New Roman" panose="02020603050405020304" pitchFamily="18" charset="0"/>
              </a:rPr>
              <a:t>Assess deep learning model performance</a:t>
            </a:r>
          </a:p>
          <a:p>
            <a:pPr>
              <a:buFont typeface="Courier New" panose="02070309020205020404" pitchFamily="49" charset="0"/>
              <a:buChar char="o"/>
            </a:pPr>
            <a:r>
              <a:rPr lang="en-IN" sz="1800" dirty="0">
                <a:latin typeface="Times New Roman" panose="02020603050405020304" pitchFamily="18" charset="0"/>
                <a:cs typeface="Times New Roman" panose="02020603050405020304" pitchFamily="18" charset="0"/>
              </a:rPr>
              <a:t>Validate predictions using field and satellite data</a:t>
            </a:r>
          </a:p>
          <a:p>
            <a:pPr>
              <a:buFont typeface="Courier New" panose="02070309020205020404" pitchFamily="49" charset="0"/>
              <a:buChar char="o"/>
            </a:pPr>
            <a:r>
              <a:rPr lang="en-IN" sz="1800" dirty="0">
                <a:latin typeface="Times New Roman" panose="02020603050405020304" pitchFamily="18" charset="0"/>
                <a:cs typeface="Times New Roman" panose="02020603050405020304" pitchFamily="18" charset="0"/>
              </a:rPr>
              <a:t>Compare results with traditional estimation methods</a:t>
            </a:r>
          </a:p>
          <a:p>
            <a:pPr marL="0" indent="0">
              <a:lnSpc>
                <a:spcPct val="150000"/>
              </a:lnSpc>
              <a:buNone/>
            </a:pP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21621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E8E500-EBF8-3F14-FB65-6D384EFF5D07}"/>
              </a:ext>
            </a:extLst>
          </p:cNvPr>
          <p:cNvSpPr>
            <a:spLocks noGrp="1"/>
          </p:cNvSpPr>
          <p:nvPr>
            <p:ph type="ctrTitle"/>
          </p:nvPr>
        </p:nvSpPr>
        <p:spPr>
          <a:xfrm>
            <a:off x="509117" y="226509"/>
            <a:ext cx="9144000" cy="567289"/>
          </a:xfrm>
        </p:spPr>
        <p:txBody>
          <a:bodyPr>
            <a:normAutofit/>
          </a:bodyPr>
          <a:lstStyle/>
          <a:p>
            <a:pPr algn="l"/>
            <a:r>
              <a:rPr lang="en-IN" sz="2700" b="1" dirty="0">
                <a:latin typeface="Times New Roman" panose="02020603050405020304" pitchFamily="18" charset="0"/>
                <a:cs typeface="Times New Roman" panose="02020603050405020304" pitchFamily="18" charset="0"/>
              </a:rPr>
              <a:t>5. </a:t>
            </a:r>
            <a:r>
              <a:rPr lang="en-US" sz="2800" b="1" u="sng" dirty="0">
                <a:latin typeface="Times New Roman" panose="02020603050405020304" pitchFamily="18" charset="0"/>
                <a:cs typeface="Times New Roman" panose="02020603050405020304" pitchFamily="18" charset="0"/>
              </a:rPr>
              <a:t>Literature Survey: Paper 1</a:t>
            </a:r>
            <a:endParaRPr lang="en-IN" sz="2800"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D21CDDE8-CEDE-FB13-5F92-B48DA61E27FA}"/>
              </a:ext>
            </a:extLst>
          </p:cNvPr>
          <p:cNvSpPr>
            <a:spLocks noGrp="1" noChangeArrowheads="1"/>
          </p:cNvSpPr>
          <p:nvPr>
            <p:ph type="subTitle" idx="1"/>
          </p:nvPr>
        </p:nvSpPr>
        <p:spPr bwMode="auto">
          <a:xfrm>
            <a:off x="340963" y="984718"/>
            <a:ext cx="11851037" cy="54558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lgn="just" eaLnBrk="0" fontAlgn="base" hangingPunct="0">
              <a:lnSpc>
                <a:spcPct val="150000"/>
              </a:lnSpc>
              <a:spcBef>
                <a:spcPct val="0"/>
              </a:spcBef>
              <a:spcAft>
                <a:spcPct val="0"/>
              </a:spcAft>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Authors:</a:t>
            </a:r>
            <a:r>
              <a:rPr lang="en-IN" sz="1800" dirty="0">
                <a:latin typeface="Times New Roman" panose="02020603050405020304" pitchFamily="18" charset="0"/>
                <a:cs typeface="Times New Roman" panose="02020603050405020304" pitchFamily="18" charset="0"/>
              </a:rPr>
              <a:t> Nidhi Kundu, Geeta Rani, </a:t>
            </a:r>
            <a:r>
              <a:rPr lang="en-IN" sz="1800" dirty="0" err="1">
                <a:latin typeface="Times New Roman" panose="02020603050405020304" pitchFamily="18" charset="0"/>
                <a:cs typeface="Times New Roman" panose="02020603050405020304" pitchFamily="18" charset="0"/>
              </a:rPr>
              <a:t>Vijaypal</a:t>
            </a:r>
            <a:r>
              <a:rPr lang="en-IN" sz="1800" dirty="0">
                <a:latin typeface="Times New Roman" panose="02020603050405020304" pitchFamily="18" charset="0"/>
                <a:cs typeface="Times New Roman" panose="02020603050405020304" pitchFamily="18" charset="0"/>
              </a:rPr>
              <a:t> Singh Dhaka, Kalpit Gupta, </a:t>
            </a:r>
            <a:r>
              <a:rPr lang="en-IN" sz="1800" dirty="0" err="1">
                <a:latin typeface="Times New Roman" panose="02020603050405020304" pitchFamily="18" charset="0"/>
                <a:cs typeface="Times New Roman" panose="02020603050405020304" pitchFamily="18" charset="0"/>
              </a:rPr>
              <a:t>Siddaiah</a:t>
            </a:r>
            <a:r>
              <a:rPr lang="en-IN" sz="1800" dirty="0">
                <a:latin typeface="Times New Roman" panose="02020603050405020304" pitchFamily="18" charset="0"/>
                <a:cs typeface="Times New Roman" panose="02020603050405020304" pitchFamily="18" charset="0"/>
              </a:rPr>
              <a:t> Chandra Nayaka, Eugenio Vocaturo, Ester Zumpano</a:t>
            </a:r>
          </a:p>
          <a:p>
            <a:pPr marL="342900" lvl="0" indent="-342900" algn="just" eaLnBrk="0" fontAlgn="base" hangingPunct="0">
              <a:lnSpc>
                <a:spcPct val="150000"/>
              </a:lnSpc>
              <a:spcBef>
                <a:spcPct val="0"/>
              </a:spcBef>
              <a:spcAft>
                <a:spcPct val="0"/>
              </a:spcAft>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Year:</a:t>
            </a:r>
            <a:r>
              <a:rPr lang="en-IN" sz="1800" dirty="0">
                <a:latin typeface="Times New Roman" panose="02020603050405020304" pitchFamily="18" charset="0"/>
                <a:cs typeface="Times New Roman" panose="02020603050405020304" pitchFamily="18" charset="0"/>
              </a:rPr>
              <a:t> </a:t>
            </a:r>
            <a:r>
              <a:rPr lang="en" sz="1800" dirty="0">
                <a:solidFill>
                  <a:schemeClr val="tx1">
                    <a:lumMod val="95000"/>
                    <a:lumOff val="5000"/>
                  </a:schemeClr>
                </a:solidFill>
                <a:latin typeface="Times New Roman" panose="02020603050405020304" pitchFamily="18" charset="0"/>
                <a:ea typeface="Times New Roman"/>
                <a:cs typeface="Times New Roman" panose="02020603050405020304" pitchFamily="18" charset="0"/>
                <a:sym typeface="Times New Roman"/>
              </a:rPr>
              <a:t>November 2022 </a:t>
            </a:r>
          </a:p>
          <a:p>
            <a:pPr marL="342900" indent="-342900" algn="l">
              <a:buFont typeface="Arial" panose="020B0604020202020204" pitchFamily="34" charset="0"/>
              <a:buChar char="•"/>
            </a:pPr>
            <a:r>
              <a:rPr lang="en-US" altLang="en-US" sz="1800" b="1" dirty="0">
                <a:latin typeface="Times New Roman" panose="02020603050405020304" pitchFamily="18" charset="0"/>
                <a:cs typeface="Times New Roman" panose="02020603050405020304" pitchFamily="18" charset="0"/>
              </a:rPr>
              <a:t>Title:</a:t>
            </a:r>
            <a:r>
              <a:rPr lang="en-US" altLang="en-US" sz="1800"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Disease detection, severity prediction, and crop loss estimation in Maize Crop using deep learning.</a:t>
            </a:r>
          </a:p>
          <a:p>
            <a:pPr marL="342900" indent="-342900" algn="just" eaLnBrk="0" fontAlgn="base" hangingPunct="0">
              <a:lnSpc>
                <a:spcPct val="150000"/>
              </a:lnSpc>
              <a:spcBef>
                <a:spcPct val="0"/>
              </a:spcBef>
              <a:spcAft>
                <a:spcPct val="0"/>
              </a:spcAft>
              <a:buFont typeface="Arial" panose="020B0604020202020204" pitchFamily="34" charset="0"/>
              <a:buChar char="•"/>
            </a:pPr>
            <a:r>
              <a:rPr lang="en-US" altLang="en-US" sz="1800" b="1" dirty="0">
                <a:latin typeface="Times New Roman" panose="02020603050405020304" pitchFamily="18" charset="0"/>
                <a:cs typeface="Times New Roman" panose="02020603050405020304" pitchFamily="18" charset="0"/>
              </a:rPr>
              <a:t>Methodology: </a:t>
            </a:r>
            <a:r>
              <a:rPr lang="en-US" sz="1800" dirty="0">
                <a:latin typeface="Times New Roman" panose="02020603050405020304" pitchFamily="18" charset="0"/>
                <a:cs typeface="Times New Roman" panose="02020603050405020304" pitchFamily="18" charset="0"/>
              </a:rPr>
              <a:t>A convolutional neural network (CNN) model was trained on labeled images of maize leaves to detect disease type and severity, and estimate crop loss, followed by visualization of key features using Grad-CAM.</a:t>
            </a:r>
            <a:endParaRPr lang="en-US" altLang="en-US" sz="1800" dirty="0">
              <a:latin typeface="Times New Roman" panose="02020603050405020304" pitchFamily="18" charset="0"/>
              <a:cs typeface="Times New Roman" panose="02020603050405020304" pitchFamily="18" charset="0"/>
            </a:endParaRPr>
          </a:p>
          <a:p>
            <a:pPr marL="342900" lvl="0" indent="-342900" algn="just" eaLnBrk="0" fontAlgn="base" hangingPunct="0">
              <a:lnSpc>
                <a:spcPct val="150000"/>
              </a:lnSpc>
              <a:spcBef>
                <a:spcPct val="0"/>
              </a:spcBef>
              <a:spcAft>
                <a:spcPct val="0"/>
              </a:spcAft>
              <a:buFont typeface="Arial" panose="020B0604020202020204" pitchFamily="34" charset="0"/>
              <a:buChar char="•"/>
            </a:pPr>
            <a:r>
              <a:rPr lang="en-US" altLang="en-US" sz="1800" b="1" dirty="0">
                <a:latin typeface="Times New Roman" panose="02020603050405020304" pitchFamily="18" charset="0"/>
                <a:cs typeface="Times New Roman" panose="02020603050405020304" pitchFamily="18" charset="0"/>
              </a:rPr>
              <a:t>Key Findings:</a:t>
            </a:r>
            <a:endParaRPr lang="en-US" altLang="en-US" sz="1800" dirty="0">
              <a:latin typeface="Times New Roman" panose="02020603050405020304" pitchFamily="18" charset="0"/>
              <a:cs typeface="Times New Roman" panose="02020603050405020304" pitchFamily="18" charset="0"/>
            </a:endParaRPr>
          </a:p>
          <a:p>
            <a:pPr marL="342900" lvl="0" indent="-342900" algn="just" eaLnBrk="0" fontAlgn="base" hangingPunct="0">
              <a:lnSpc>
                <a:spcPct val="150000"/>
              </a:lnSpc>
              <a:spcBef>
                <a:spcPct val="0"/>
              </a:spcBef>
              <a:spcAft>
                <a:spcPct val="0"/>
              </a:spcAft>
              <a:buFont typeface="+mj-lt"/>
              <a:buAutoNum type="arabicPeriod"/>
            </a:pPr>
            <a:r>
              <a:rPr lang="en-US" sz="1800" dirty="0">
                <a:latin typeface="Times New Roman" panose="02020603050405020304" pitchFamily="18" charset="0"/>
                <a:cs typeface="Times New Roman" panose="02020603050405020304" pitchFamily="18" charset="0"/>
              </a:rPr>
              <a:t>Real-life Dataset </a:t>
            </a:r>
          </a:p>
          <a:p>
            <a:pPr marL="342900" lvl="0" indent="-342900" algn="just" eaLnBrk="0" fontAlgn="base" hangingPunct="0">
              <a:lnSpc>
                <a:spcPct val="150000"/>
              </a:lnSpc>
              <a:spcBef>
                <a:spcPct val="0"/>
              </a:spcBef>
              <a:spcAft>
                <a:spcPct val="0"/>
              </a:spcAft>
              <a:buFont typeface="+mj-lt"/>
              <a:buAutoNum type="arabicPeriod"/>
            </a:pPr>
            <a:r>
              <a:rPr lang="en-US" sz="1800" dirty="0">
                <a:latin typeface="Times New Roman" panose="02020603050405020304" pitchFamily="18" charset="0"/>
                <a:cs typeface="Times New Roman" panose="02020603050405020304" pitchFamily="18" charset="0"/>
              </a:rPr>
              <a:t>Feature Visualization (Grad-CAM)</a:t>
            </a:r>
            <a:r>
              <a:rPr lang="en-US" altLang="en-US" sz="1800" dirty="0">
                <a:latin typeface="Times New Roman" panose="02020603050405020304" pitchFamily="18" charset="0"/>
                <a:cs typeface="Times New Roman" panose="02020603050405020304" pitchFamily="18" charset="0"/>
              </a:rPr>
              <a:t>.</a:t>
            </a:r>
          </a:p>
          <a:p>
            <a:pPr marL="342900" lvl="0" indent="-342900" algn="just" eaLnBrk="0" fontAlgn="base" hangingPunct="0">
              <a:lnSpc>
                <a:spcPct val="150000"/>
              </a:lnSpc>
              <a:spcBef>
                <a:spcPct val="0"/>
              </a:spcBef>
              <a:spcAft>
                <a:spcPct val="0"/>
              </a:spcAft>
              <a:buFont typeface="Arial" panose="020B0604020202020204" pitchFamily="34" charset="0"/>
              <a:buChar char="•"/>
            </a:pPr>
            <a:r>
              <a:rPr lang="en-US" altLang="en-US" sz="1800" b="1" dirty="0">
                <a:latin typeface="Times New Roman" panose="02020603050405020304" pitchFamily="18" charset="0"/>
                <a:cs typeface="Times New Roman" panose="02020603050405020304" pitchFamily="18" charset="0"/>
              </a:rPr>
              <a:t>Limitations:</a:t>
            </a:r>
            <a:endParaRPr lang="en-US" altLang="en-US" sz="1800" dirty="0">
              <a:latin typeface="Times New Roman" panose="02020603050405020304" pitchFamily="18" charset="0"/>
              <a:cs typeface="Times New Roman" panose="02020603050405020304" pitchFamily="18" charset="0"/>
            </a:endParaRPr>
          </a:p>
          <a:p>
            <a:pPr marL="342900" lvl="0" indent="-342900" algn="just" eaLnBrk="0" fontAlgn="base" hangingPunct="0">
              <a:lnSpc>
                <a:spcPct val="150000"/>
              </a:lnSpc>
              <a:spcBef>
                <a:spcPct val="0"/>
              </a:spcBef>
              <a:spcAft>
                <a:spcPct val="0"/>
              </a:spcAft>
              <a:buFont typeface="+mj-lt"/>
              <a:buAutoNum type="arabicPeriod"/>
            </a:pPr>
            <a:r>
              <a:rPr lang="en-IN" sz="1800" dirty="0">
                <a:latin typeface="Times New Roman" panose="02020603050405020304" pitchFamily="18" charset="0"/>
                <a:cs typeface="Times New Roman" panose="02020603050405020304" pitchFamily="18" charset="0"/>
              </a:rPr>
              <a:t>Lack of Generalization</a:t>
            </a:r>
            <a:r>
              <a:rPr lang="en-US" altLang="en-US" sz="1800" dirty="0">
                <a:latin typeface="Times New Roman" panose="02020603050405020304" pitchFamily="18" charset="0"/>
                <a:cs typeface="Times New Roman" panose="02020603050405020304" pitchFamily="18" charset="0"/>
              </a:rPr>
              <a:t>.</a:t>
            </a:r>
          </a:p>
          <a:p>
            <a:pPr marL="342900" lvl="0" indent="-342900" algn="just" eaLnBrk="0" fontAlgn="base" hangingPunct="0">
              <a:lnSpc>
                <a:spcPct val="150000"/>
              </a:lnSpc>
              <a:spcBef>
                <a:spcPct val="0"/>
              </a:spcBef>
              <a:spcAft>
                <a:spcPct val="0"/>
              </a:spcAft>
              <a:buFont typeface="+mj-lt"/>
              <a:buAutoNum type="arabicPeriod"/>
            </a:pPr>
            <a:r>
              <a:rPr lang="en-US" sz="1800" dirty="0">
                <a:latin typeface="Times New Roman" panose="02020603050405020304" pitchFamily="18" charset="0"/>
                <a:cs typeface="Times New Roman" panose="02020603050405020304" pitchFamily="18" charset="0"/>
              </a:rPr>
              <a:t>Limited Severity Prediction Techniques</a:t>
            </a:r>
            <a:r>
              <a:rPr lang="en-US" altLang="en-US" sz="1800" dirty="0">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827418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98EAEA-0078-9E22-2152-DBAD2BB71E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F74999-676A-B0C8-F4AB-26FDBF82E5ED}"/>
              </a:ext>
            </a:extLst>
          </p:cNvPr>
          <p:cNvSpPr>
            <a:spLocks noGrp="1"/>
          </p:cNvSpPr>
          <p:nvPr>
            <p:ph type="ctrTitle"/>
          </p:nvPr>
        </p:nvSpPr>
        <p:spPr>
          <a:xfrm>
            <a:off x="509117" y="220686"/>
            <a:ext cx="9144000" cy="824424"/>
          </a:xfrm>
        </p:spPr>
        <p:txBody>
          <a:bodyPr>
            <a:normAutofit/>
          </a:bodyPr>
          <a:lstStyle/>
          <a:p>
            <a:pPr algn="l"/>
            <a:r>
              <a:rPr lang="en-IN" sz="2700" b="1" dirty="0">
                <a:latin typeface="Times New Roman" panose="02020603050405020304" pitchFamily="18" charset="0"/>
                <a:cs typeface="Times New Roman" panose="02020603050405020304" pitchFamily="18" charset="0"/>
              </a:rPr>
              <a:t>5. </a:t>
            </a:r>
            <a:r>
              <a:rPr lang="en-US" sz="2800" b="1" u="sng" dirty="0">
                <a:latin typeface="Times New Roman" panose="02020603050405020304" pitchFamily="18" charset="0"/>
                <a:cs typeface="Times New Roman" panose="02020603050405020304" pitchFamily="18" charset="0"/>
              </a:rPr>
              <a:t>Literature Survey: Paper 2</a:t>
            </a:r>
            <a:endParaRPr lang="en-IN" sz="2800" dirty="0"/>
          </a:p>
        </p:txBody>
      </p:sp>
      <p:sp>
        <p:nvSpPr>
          <p:cNvPr id="3" name="Subtitle 2">
            <a:extLst>
              <a:ext uri="{FF2B5EF4-FFF2-40B4-BE49-F238E27FC236}">
                <a16:creationId xmlns:a16="http://schemas.microsoft.com/office/drawing/2014/main" id="{25FB0938-BF85-A0EB-22BC-4B352AED9B11}"/>
              </a:ext>
            </a:extLst>
          </p:cNvPr>
          <p:cNvSpPr>
            <a:spLocks noGrp="1"/>
          </p:cNvSpPr>
          <p:nvPr>
            <p:ph type="subTitle" idx="1"/>
          </p:nvPr>
        </p:nvSpPr>
        <p:spPr>
          <a:xfrm>
            <a:off x="232475" y="1487837"/>
            <a:ext cx="11794209" cy="5239912"/>
          </a:xfrm>
        </p:spPr>
        <p:txBody>
          <a:bodyPr>
            <a:noAutofit/>
          </a:bodyPr>
          <a:lstStyle/>
          <a:p>
            <a:pPr marL="342900" indent="-342900" algn="l">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Authors: </a:t>
            </a:r>
            <a:r>
              <a:rPr lang="en-IN" sz="1800" dirty="0">
                <a:latin typeface="Times New Roman" panose="02020603050405020304" pitchFamily="18" charset="0"/>
                <a:cs typeface="Times New Roman" panose="02020603050405020304" pitchFamily="18" charset="0"/>
              </a:rPr>
              <a:t>Muhammad Ashfaq, Muhammad Usman Tariq, Imran Khan, Abdul Rahman Alzahrani, Humera Khan and Anwar Ghani.</a:t>
            </a:r>
            <a:endParaRPr lang="en" sz="1800" dirty="0">
              <a:solidFill>
                <a:schemeClr val="tx1">
                  <a:lumMod val="95000"/>
                  <a:lumOff val="5000"/>
                </a:schemeClr>
              </a:solidFill>
              <a:latin typeface="Times New Roman" panose="02020603050405020304" pitchFamily="18" charset="0"/>
              <a:cs typeface="Times New Roman" panose="02020603050405020304" pitchFamily="18" charset="0"/>
              <a:sym typeface="Times New Roman"/>
            </a:endParaRPr>
          </a:p>
          <a:p>
            <a:pPr marL="342900" indent="-342900" algn="just">
              <a:lnSpc>
                <a:spcPct val="120000"/>
              </a:lnSpc>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Year:</a:t>
            </a:r>
            <a:r>
              <a:rPr lang="en-IN" sz="1800" dirty="0">
                <a:latin typeface="Times New Roman" panose="02020603050405020304" pitchFamily="18" charset="0"/>
                <a:cs typeface="Times New Roman" panose="02020603050405020304" pitchFamily="18" charset="0"/>
              </a:rPr>
              <a:t> March 2024</a:t>
            </a:r>
          </a:p>
          <a:p>
            <a:pPr marL="342900" indent="-342900" algn="l">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Title: </a:t>
            </a:r>
            <a:r>
              <a:rPr lang="en-US" sz="1800" dirty="0">
                <a:latin typeface="Times New Roman" panose="02020603050405020304" pitchFamily="18" charset="0"/>
                <a:cs typeface="Times New Roman" panose="02020603050405020304" pitchFamily="18" charset="0"/>
              </a:rPr>
              <a:t>Accurate Wheat Yield Prediction Using Machine Learning and Climate-NDVI Data Fusion.</a:t>
            </a:r>
          </a:p>
          <a:p>
            <a:pPr marL="342900" indent="-342900" algn="just">
              <a:lnSpc>
                <a:spcPct val="120000"/>
              </a:lnSpc>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Methodology: </a:t>
            </a:r>
            <a:r>
              <a:rPr lang="en-IN" sz="1800" dirty="0">
                <a:latin typeface="Times New Roman" panose="02020603050405020304" pitchFamily="18" charset="0"/>
                <a:cs typeface="Times New Roman" panose="02020603050405020304" pitchFamily="18" charset="0"/>
              </a:rPr>
              <a:t>Multiple machine learning algorithms (SVM, Random Forest, LASSO) were applied to fused satellite NDVI and climate data, with hyperparameter optimization, to predict wheat yield per region in Pakistan.</a:t>
            </a:r>
          </a:p>
          <a:p>
            <a:pPr marL="342900" indent="-342900" algn="just">
              <a:lnSpc>
                <a:spcPct val="120000"/>
              </a:lnSpc>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Key Findings:</a:t>
            </a:r>
          </a:p>
          <a:p>
            <a:pPr marL="342900" indent="-342900" algn="just">
              <a:lnSpc>
                <a:spcPct val="120000"/>
              </a:lnSpc>
              <a:buFont typeface="+mj-lt"/>
              <a:buAutoNum type="arabicPeriod"/>
            </a:pPr>
            <a:r>
              <a:rPr lang="en-IN" sz="1800" dirty="0">
                <a:latin typeface="Times New Roman" panose="02020603050405020304" pitchFamily="18" charset="0"/>
                <a:cs typeface="Times New Roman" panose="02020603050405020304" pitchFamily="18" charset="0"/>
              </a:rPr>
              <a:t>High Performance (R²: 0.74–0.88).</a:t>
            </a:r>
          </a:p>
          <a:p>
            <a:pPr marL="342900" indent="-342900" algn="just">
              <a:lnSpc>
                <a:spcPct val="120000"/>
              </a:lnSpc>
              <a:buFont typeface="+mj-lt"/>
              <a:buAutoNum type="arabicPeriod"/>
            </a:pPr>
            <a:r>
              <a:rPr lang="en-IN" sz="1800" dirty="0">
                <a:latin typeface="Times New Roman" panose="02020603050405020304" pitchFamily="18" charset="0"/>
                <a:cs typeface="Times New Roman" panose="02020603050405020304" pitchFamily="18" charset="0"/>
              </a:rPr>
              <a:t>Robust Against Climate Variability.</a:t>
            </a:r>
          </a:p>
          <a:p>
            <a:pPr marL="342900" indent="-342900" algn="just">
              <a:lnSpc>
                <a:spcPct val="120000"/>
              </a:lnSpc>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Limitations:</a:t>
            </a:r>
          </a:p>
          <a:p>
            <a:pPr marL="342900" indent="-342900" algn="just">
              <a:lnSpc>
                <a:spcPct val="120000"/>
              </a:lnSpc>
              <a:buFont typeface="+mj-lt"/>
              <a:buAutoNum type="arabicPeriod"/>
            </a:pPr>
            <a:r>
              <a:rPr lang="en-IN" sz="1800" dirty="0">
                <a:latin typeface="Times New Roman" panose="02020603050405020304" pitchFamily="18" charset="0"/>
                <a:cs typeface="Times New Roman" panose="02020603050405020304" pitchFamily="18" charset="0"/>
              </a:rPr>
              <a:t>Dependent on Data Quality.</a:t>
            </a:r>
          </a:p>
          <a:p>
            <a:pPr marL="342900" indent="-342900" algn="just">
              <a:lnSpc>
                <a:spcPct val="120000"/>
              </a:lnSpc>
              <a:buFont typeface="+mj-lt"/>
              <a:buAutoNum type="arabicPeriod"/>
            </a:pPr>
            <a:r>
              <a:rPr lang="en-IN" sz="1800" dirty="0">
                <a:latin typeface="Times New Roman" panose="02020603050405020304" pitchFamily="18" charset="0"/>
                <a:cs typeface="Times New Roman" panose="02020603050405020304" pitchFamily="18" charset="0"/>
              </a:rPr>
              <a:t>Black-box ML Models.</a:t>
            </a:r>
          </a:p>
        </p:txBody>
      </p:sp>
    </p:spTree>
    <p:extLst>
      <p:ext uri="{BB962C8B-B14F-4D97-AF65-F5344CB8AC3E}">
        <p14:creationId xmlns:p14="http://schemas.microsoft.com/office/powerpoint/2010/main" val="40848920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B22F93-FA44-7791-F97E-FB513276BA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25143D-CE9C-EB83-BFA7-F0C5A80DAF93}"/>
              </a:ext>
            </a:extLst>
          </p:cNvPr>
          <p:cNvSpPr>
            <a:spLocks noGrp="1"/>
          </p:cNvSpPr>
          <p:nvPr>
            <p:ph type="ctrTitle"/>
          </p:nvPr>
        </p:nvSpPr>
        <p:spPr>
          <a:xfrm>
            <a:off x="640711" y="124497"/>
            <a:ext cx="9794928" cy="790413"/>
          </a:xfrm>
        </p:spPr>
        <p:txBody>
          <a:bodyPr>
            <a:normAutofit/>
          </a:bodyPr>
          <a:lstStyle/>
          <a:p>
            <a:pPr algn="l"/>
            <a:r>
              <a:rPr lang="en-IN" sz="2700" b="1" dirty="0">
                <a:latin typeface="Times New Roman" panose="02020603050405020304" pitchFamily="18" charset="0"/>
                <a:cs typeface="Times New Roman" panose="02020603050405020304" pitchFamily="18" charset="0"/>
              </a:rPr>
              <a:t>5. </a:t>
            </a:r>
            <a:r>
              <a:rPr lang="en-US" sz="2800" b="1" u="sng" dirty="0">
                <a:latin typeface="Times New Roman" panose="02020603050405020304" pitchFamily="18" charset="0"/>
                <a:cs typeface="Times New Roman" panose="02020603050405020304" pitchFamily="18" charset="0"/>
              </a:rPr>
              <a:t>Literature Survey: Paper 3</a:t>
            </a:r>
            <a:endParaRPr lang="en-IN" sz="2800" dirty="0"/>
          </a:p>
        </p:txBody>
      </p:sp>
      <p:sp>
        <p:nvSpPr>
          <p:cNvPr id="3" name="Subtitle 2">
            <a:extLst>
              <a:ext uri="{FF2B5EF4-FFF2-40B4-BE49-F238E27FC236}">
                <a16:creationId xmlns:a16="http://schemas.microsoft.com/office/drawing/2014/main" id="{86E93E10-67A9-95E7-8A3B-0539FCAA3F99}"/>
              </a:ext>
            </a:extLst>
          </p:cNvPr>
          <p:cNvSpPr>
            <a:spLocks noGrp="1"/>
          </p:cNvSpPr>
          <p:nvPr>
            <p:ph type="subTitle" idx="1"/>
          </p:nvPr>
        </p:nvSpPr>
        <p:spPr>
          <a:xfrm>
            <a:off x="325464" y="1301858"/>
            <a:ext cx="10910806" cy="5320006"/>
          </a:xfrm>
        </p:spPr>
        <p:txBody>
          <a:bodyPr>
            <a:normAutofit/>
          </a:bodyPr>
          <a:lstStyle/>
          <a:p>
            <a:pPr marL="342900" indent="-342900" algn="l">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Authors: </a:t>
            </a:r>
            <a:r>
              <a:rPr lang="en-IN" sz="1800" dirty="0">
                <a:latin typeface="Times New Roman" panose="02020603050405020304" pitchFamily="18" charset="0"/>
                <a:cs typeface="Times New Roman" panose="02020603050405020304" pitchFamily="18" charset="0"/>
              </a:rPr>
              <a:t>Muhammad Rizwan, Khokher Changming Sun, </a:t>
            </a:r>
            <a:r>
              <a:rPr lang="en-IN" sz="1800" dirty="0" err="1">
                <a:latin typeface="Times New Roman" panose="02020603050405020304" pitchFamily="18" charset="0"/>
                <a:cs typeface="Times New Roman" panose="02020603050405020304" pitchFamily="18" charset="0"/>
              </a:rPr>
              <a:t>Qiyu</a:t>
            </a:r>
            <a:r>
              <a:rPr lang="en-IN" sz="1800" dirty="0">
                <a:latin typeface="Times New Roman" panose="02020603050405020304" pitchFamily="18" charset="0"/>
                <a:cs typeface="Times New Roman" panose="02020603050405020304" pitchFamily="18" charset="0"/>
              </a:rPr>
              <a:t> Liao, Adam </a:t>
            </a:r>
            <a:r>
              <a:rPr lang="en-IN" sz="1800" dirty="0" err="1">
                <a:latin typeface="Times New Roman" panose="02020603050405020304" pitchFamily="18" charset="0"/>
                <a:cs typeface="Times New Roman" panose="02020603050405020304" pitchFamily="18" charset="0"/>
              </a:rPr>
              <a:t>L.Smith</a:t>
            </a:r>
            <a:r>
              <a:rPr lang="en-IN" sz="1800" dirty="0">
                <a:latin typeface="Times New Roman" panose="02020603050405020304" pitchFamily="18" charset="0"/>
                <a:cs typeface="Times New Roman" panose="02020603050405020304" pitchFamily="18" charset="0"/>
              </a:rPr>
              <a:t>, Donald Mackenize, Mark R. Thomas, Dadong Wang, and Everard J. Edwards</a:t>
            </a:r>
          </a:p>
          <a:p>
            <a:pPr marL="342900" indent="-342900" algn="l">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Year: </a:t>
            </a:r>
            <a:r>
              <a:rPr lang="en-IN" sz="1800" dirty="0">
                <a:solidFill>
                  <a:schemeClr val="tx1">
                    <a:lumMod val="95000"/>
                    <a:lumOff val="5000"/>
                  </a:schemeClr>
                </a:solidFill>
                <a:latin typeface="Times New Roman" panose="02020603050405020304" pitchFamily="18" charset="0"/>
                <a:ea typeface="Times New Roman"/>
                <a:cs typeface="Times New Roman" panose="02020603050405020304" pitchFamily="18" charset="0"/>
                <a:sym typeface="Times New Roman"/>
              </a:rPr>
              <a:t>March</a:t>
            </a:r>
            <a:r>
              <a:rPr lang="en-IN" sz="1800" dirty="0">
                <a:latin typeface="Times New Roman" panose="02020603050405020304" pitchFamily="18" charset="0"/>
                <a:cs typeface="Times New Roman" panose="02020603050405020304" pitchFamily="18" charset="0"/>
              </a:rPr>
              <a:t> 2023</a:t>
            </a:r>
            <a:endParaRPr lang="en-IN" sz="1800" b="1" dirty="0">
              <a:solidFill>
                <a:schemeClr val="tx1">
                  <a:lumMod val="95000"/>
                  <a:lumOff val="5000"/>
                </a:schemeClr>
              </a:solidFill>
              <a:latin typeface="Times New Roman" panose="02020603050405020304" pitchFamily="18" charset="0"/>
              <a:ea typeface="Times New Roman"/>
              <a:cs typeface="Times New Roman" panose="02020603050405020304" pitchFamily="18" charset="0"/>
              <a:sym typeface="Times New Roman"/>
            </a:endParaRPr>
          </a:p>
          <a:p>
            <a:pPr marL="285750" indent="-342000" algn="just">
              <a:lnSpc>
                <a:spcPct val="120000"/>
              </a:lnSpc>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Title: </a:t>
            </a:r>
            <a:r>
              <a:rPr lang="en-US" sz="1800" dirty="0">
                <a:latin typeface="Times New Roman" panose="02020603050405020304" pitchFamily="18" charset="0"/>
                <a:cs typeface="Times New Roman" panose="02020603050405020304" pitchFamily="18" charset="0"/>
              </a:rPr>
              <a:t>Early Yield Estimation in Viticulture Based on Grapevine Inflorescence Detection and Counting in Videos</a:t>
            </a:r>
            <a:endParaRPr lang="en-IN" sz="18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Methodology: </a:t>
            </a:r>
            <a:r>
              <a:rPr lang="en-US" sz="1800" dirty="0">
                <a:latin typeface="Times New Roman" panose="02020603050405020304" pitchFamily="18" charset="0"/>
                <a:cs typeface="Times New Roman" panose="02020603050405020304" pitchFamily="18" charset="0"/>
              </a:rPr>
              <a:t>A custom video dataset was collected and a deep learning object detection model (YOLOv5) was used to detect and count grape vine inflorescences during early growth stages for predicting yield. </a:t>
            </a:r>
          </a:p>
          <a:p>
            <a:pPr marL="285750" indent="-285750" algn="just">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Key Findings:</a:t>
            </a:r>
          </a:p>
          <a:p>
            <a:pPr marL="342900" indent="-342000" algn="just">
              <a:lnSpc>
                <a:spcPct val="120000"/>
              </a:lnSpc>
              <a:buFont typeface="+mj-lt"/>
              <a:buAutoNum type="arabicPeriod"/>
            </a:pPr>
            <a:r>
              <a:rPr lang="en-US" sz="1800" dirty="0">
                <a:latin typeface="Times New Roman" panose="02020603050405020304" pitchFamily="18" charset="0"/>
                <a:cs typeface="Times New Roman" panose="02020603050405020304" pitchFamily="18" charset="0"/>
              </a:rPr>
              <a:t>Early Stage Prediction (E-L 12 stage)</a:t>
            </a:r>
            <a:r>
              <a:rPr lang="en-IN" sz="1800" dirty="0">
                <a:latin typeface="Times New Roman" panose="02020603050405020304" pitchFamily="18" charset="0"/>
                <a:cs typeface="Times New Roman" panose="02020603050405020304" pitchFamily="18" charset="0"/>
              </a:rPr>
              <a:t>.</a:t>
            </a:r>
          </a:p>
          <a:p>
            <a:pPr marL="342900" indent="-342000" algn="just">
              <a:lnSpc>
                <a:spcPct val="120000"/>
              </a:lnSpc>
              <a:buFont typeface="+mj-lt"/>
              <a:buAutoNum type="arabicPeriod"/>
            </a:pPr>
            <a:r>
              <a:rPr lang="en-US" sz="1800" dirty="0">
                <a:latin typeface="Times New Roman" panose="02020603050405020304" pitchFamily="18" charset="0"/>
                <a:cs typeface="Times New Roman" panose="02020603050405020304" pitchFamily="18" charset="0"/>
              </a:rPr>
              <a:t>High Accuracy in Detection (80% Precision, 83% Recall)</a:t>
            </a:r>
            <a:r>
              <a:rPr lang="en-IN" sz="1800" dirty="0">
                <a:latin typeface="Times New Roman" panose="02020603050405020304" pitchFamily="18" charset="0"/>
                <a:cs typeface="Times New Roman" panose="02020603050405020304" pitchFamily="18" charset="0"/>
              </a:rPr>
              <a:t>.</a:t>
            </a:r>
          </a:p>
          <a:p>
            <a:pPr marL="285750" indent="-342000" algn="just">
              <a:lnSpc>
                <a:spcPct val="120000"/>
              </a:lnSpc>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Limitations:</a:t>
            </a:r>
          </a:p>
          <a:p>
            <a:pPr marL="342900" indent="-342000" algn="just">
              <a:lnSpc>
                <a:spcPct val="120000"/>
              </a:lnSpc>
              <a:buFont typeface="+mj-lt"/>
              <a:buAutoNum type="arabicPeriod"/>
            </a:pPr>
            <a:r>
              <a:rPr lang="en-IN" sz="1800" dirty="0">
                <a:latin typeface="Times New Roman" panose="02020603050405020304" pitchFamily="18" charset="0"/>
                <a:cs typeface="Times New Roman" panose="02020603050405020304" pitchFamily="18" charset="0"/>
              </a:rPr>
              <a:t>High Annotation Effort.</a:t>
            </a:r>
          </a:p>
          <a:p>
            <a:pPr marL="342900" indent="-342000" algn="just">
              <a:lnSpc>
                <a:spcPct val="120000"/>
              </a:lnSpc>
              <a:buFont typeface="+mj-lt"/>
              <a:buAutoNum type="arabicPeriod"/>
            </a:pPr>
            <a:r>
              <a:rPr lang="en-US" sz="1800" dirty="0">
                <a:latin typeface="Times New Roman" panose="02020603050405020304" pitchFamily="18" charset="0"/>
                <a:cs typeface="Times New Roman" panose="02020603050405020304" pitchFamily="18" charset="0"/>
              </a:rPr>
              <a:t>Error in Yield Estimation (4–11%)</a:t>
            </a:r>
            <a:r>
              <a:rPr lang="en-IN" sz="1800" dirty="0">
                <a:latin typeface="Times New Roman" panose="02020603050405020304" pitchFamily="18" charset="0"/>
                <a:cs typeface="Times New Roman" panose="02020603050405020304" pitchFamily="18" charset="0"/>
              </a:rPr>
              <a:t>.</a:t>
            </a:r>
          </a:p>
          <a:p>
            <a:pPr algn="just"/>
            <a:endParaRPr lang="en-IN" sz="1400" dirty="0">
              <a:latin typeface="Times New Roman" panose="02020603050405020304" pitchFamily="18" charset="0"/>
              <a:cs typeface="Times New Roman" panose="02020603050405020304" pitchFamily="18" charset="0"/>
            </a:endParaRPr>
          </a:p>
          <a:p>
            <a:pPr algn="just"/>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750183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828C67-FA26-1210-2ADB-107BECFFC7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56B33C-BF0C-3969-55CD-852B5D9302A7}"/>
              </a:ext>
            </a:extLst>
          </p:cNvPr>
          <p:cNvSpPr>
            <a:spLocks noGrp="1"/>
          </p:cNvSpPr>
          <p:nvPr>
            <p:ph type="ctrTitle"/>
          </p:nvPr>
        </p:nvSpPr>
        <p:spPr>
          <a:xfrm>
            <a:off x="589503" y="371411"/>
            <a:ext cx="9144000" cy="523403"/>
          </a:xfrm>
        </p:spPr>
        <p:txBody>
          <a:bodyPr>
            <a:normAutofit/>
          </a:bodyPr>
          <a:lstStyle/>
          <a:p>
            <a:pPr algn="l"/>
            <a:r>
              <a:rPr lang="en-IN" sz="2700" b="1" dirty="0">
                <a:latin typeface="Times New Roman" panose="02020603050405020304" pitchFamily="18" charset="0"/>
                <a:cs typeface="Times New Roman" panose="02020603050405020304" pitchFamily="18" charset="0"/>
              </a:rPr>
              <a:t>5. </a:t>
            </a:r>
            <a:r>
              <a:rPr lang="en-US" sz="2800" b="1" u="sng" dirty="0">
                <a:latin typeface="Times New Roman" panose="02020603050405020304" pitchFamily="18" charset="0"/>
                <a:cs typeface="Times New Roman" panose="02020603050405020304" pitchFamily="18" charset="0"/>
              </a:rPr>
              <a:t>Literature Survey: Paper 4</a:t>
            </a:r>
            <a:endParaRPr lang="en-IN" sz="2800" dirty="0"/>
          </a:p>
        </p:txBody>
      </p:sp>
      <p:sp>
        <p:nvSpPr>
          <p:cNvPr id="3" name="Subtitle 2">
            <a:extLst>
              <a:ext uri="{FF2B5EF4-FFF2-40B4-BE49-F238E27FC236}">
                <a16:creationId xmlns:a16="http://schemas.microsoft.com/office/drawing/2014/main" id="{E49B7F16-B2F4-DF1C-731A-EEE5C28BABF6}"/>
              </a:ext>
            </a:extLst>
          </p:cNvPr>
          <p:cNvSpPr>
            <a:spLocks noGrp="1"/>
          </p:cNvSpPr>
          <p:nvPr>
            <p:ph type="subTitle" idx="1"/>
          </p:nvPr>
        </p:nvSpPr>
        <p:spPr>
          <a:xfrm>
            <a:off x="322881" y="1394848"/>
            <a:ext cx="11703804" cy="5300420"/>
          </a:xfrm>
        </p:spPr>
        <p:txBody>
          <a:bodyPr>
            <a:normAutofit/>
          </a:bodyPr>
          <a:lstStyle/>
          <a:p>
            <a:pPr marL="285750" indent="-342000" algn="just">
              <a:lnSpc>
                <a:spcPct val="120000"/>
              </a:lnSpc>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Authors: </a:t>
            </a:r>
            <a:r>
              <a:rPr lang="en-IN" sz="1800" dirty="0" err="1">
                <a:latin typeface="Times New Roman" panose="02020603050405020304" pitchFamily="18" charset="0"/>
                <a:cs typeface="Times New Roman" panose="02020603050405020304" pitchFamily="18" charset="0"/>
              </a:rPr>
              <a:t>Fumin</a:t>
            </a:r>
            <a:r>
              <a:rPr lang="en-IN" sz="1800" dirty="0">
                <a:latin typeface="Times New Roman" panose="02020603050405020304" pitchFamily="18" charset="0"/>
                <a:cs typeface="Times New Roman" panose="02020603050405020304" pitchFamily="18" charset="0"/>
              </a:rPr>
              <a:t> Wang , Jiale Li , </a:t>
            </a:r>
            <a:r>
              <a:rPr lang="en-IN" sz="1800" dirty="0" err="1">
                <a:latin typeface="Times New Roman" panose="02020603050405020304" pitchFamily="18" charset="0"/>
                <a:cs typeface="Times New Roman" panose="02020603050405020304" pitchFamily="18" charset="0"/>
              </a:rPr>
              <a:t>Dailiang</a:t>
            </a:r>
            <a:r>
              <a:rPr lang="en-IN" sz="1800" dirty="0">
                <a:latin typeface="Times New Roman" panose="02020603050405020304" pitchFamily="18" charset="0"/>
                <a:cs typeface="Times New Roman" panose="02020603050405020304" pitchFamily="18" charset="0"/>
              </a:rPr>
              <a:t> Peng , </a:t>
            </a:r>
            <a:r>
              <a:rPr lang="en-IN" sz="1800" dirty="0" err="1">
                <a:latin typeface="Times New Roman" panose="02020603050405020304" pitchFamily="18" charset="0"/>
                <a:cs typeface="Times New Roman" panose="02020603050405020304" pitchFamily="18" charset="0"/>
              </a:rPr>
              <a:t>Qiuxiang</a:t>
            </a:r>
            <a:r>
              <a:rPr lang="en-IN" sz="1800" dirty="0">
                <a:latin typeface="Times New Roman" panose="02020603050405020304" pitchFamily="18" charset="0"/>
                <a:cs typeface="Times New Roman" panose="02020603050405020304" pitchFamily="18" charset="0"/>
              </a:rPr>
              <a:t> Yi, Xiaoyang Zhang, </a:t>
            </a:r>
            <a:r>
              <a:rPr lang="en-IN" sz="1800" dirty="0" err="1">
                <a:latin typeface="Times New Roman" panose="02020603050405020304" pitchFamily="18" charset="0"/>
                <a:cs typeface="Times New Roman" panose="02020603050405020304" pitchFamily="18" charset="0"/>
              </a:rPr>
              <a:t>Jueyi</a:t>
            </a:r>
            <a:r>
              <a:rPr lang="en-IN" sz="1800" dirty="0">
                <a:latin typeface="Times New Roman" panose="02020603050405020304" pitchFamily="18" charset="0"/>
                <a:cs typeface="Times New Roman" panose="02020603050405020304" pitchFamily="18" charset="0"/>
              </a:rPr>
              <a:t> Zheng, and Siting Chen</a:t>
            </a:r>
            <a:r>
              <a:rPr lang="en-IN" sz="1800" b="1" dirty="0">
                <a:latin typeface="Times New Roman" panose="02020603050405020304" pitchFamily="18" charset="0"/>
                <a:cs typeface="Times New Roman" panose="02020603050405020304" pitchFamily="18" charset="0"/>
              </a:rPr>
              <a:t> </a:t>
            </a:r>
            <a:endParaRPr lang="en-US" sz="1800" dirty="0">
              <a:latin typeface="Times New Roman" panose="02020603050405020304" pitchFamily="18" charset="0"/>
              <a:cs typeface="Times New Roman" panose="02020603050405020304" pitchFamily="18" charset="0"/>
            </a:endParaRPr>
          </a:p>
          <a:p>
            <a:pPr marL="285750" indent="-342000" algn="just">
              <a:lnSpc>
                <a:spcPct val="120000"/>
              </a:lnSpc>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Year: </a:t>
            </a:r>
            <a:r>
              <a:rPr lang="en-US" sz="1800" dirty="0">
                <a:latin typeface="Times New Roman" panose="02020603050405020304" pitchFamily="18" charset="0"/>
                <a:cs typeface="Times New Roman" panose="02020603050405020304" pitchFamily="18" charset="0"/>
              </a:rPr>
              <a:t>July 2024</a:t>
            </a:r>
          </a:p>
          <a:p>
            <a:pPr marL="342900" indent="-342900" algn="l">
              <a:buFont typeface="Wingdings" panose="05000000000000000000" pitchFamily="2" charset="2"/>
              <a:buChar char="§"/>
            </a:pPr>
            <a:r>
              <a:rPr lang="en-US" sz="1800" b="1" dirty="0">
                <a:latin typeface="Times New Roman" panose="02020603050405020304" pitchFamily="18" charset="0"/>
                <a:cs typeface="Times New Roman" panose="02020603050405020304" pitchFamily="18" charset="0"/>
              </a:rPr>
              <a:t>Title: </a:t>
            </a:r>
            <a:r>
              <a:rPr lang="en-US" sz="1800" dirty="0">
                <a:latin typeface="Times New Roman" panose="02020603050405020304" pitchFamily="18" charset="0"/>
                <a:cs typeface="Times New Roman" panose="02020603050405020304" pitchFamily="18" charset="0"/>
              </a:rPr>
              <a:t>Estimating Soybean Yields Using Causal Inference and Deep Learning Approaches With Satellite Remote Sensing Data</a:t>
            </a:r>
          </a:p>
          <a:p>
            <a:pPr marL="342900" indent="-342900" algn="l">
              <a:buFont typeface="Wingdings" panose="05000000000000000000" pitchFamily="2" charset="2"/>
              <a:buChar char="§"/>
            </a:pPr>
            <a:r>
              <a:rPr lang="en-US" sz="1800" b="1" dirty="0">
                <a:latin typeface="Times New Roman" panose="02020603050405020304" pitchFamily="18" charset="0"/>
                <a:cs typeface="Times New Roman" panose="02020603050405020304" pitchFamily="18" charset="0"/>
              </a:rPr>
              <a:t>Methodology: </a:t>
            </a:r>
            <a:r>
              <a:rPr lang="en-US" sz="1800" dirty="0">
                <a:latin typeface="Arial (Body)"/>
              </a:rPr>
              <a:t>C</a:t>
            </a:r>
            <a:r>
              <a:rPr lang="en-US" sz="1800" dirty="0">
                <a:latin typeface="Times New Roman" panose="02020603050405020304" pitchFamily="18" charset="0"/>
                <a:cs typeface="Times New Roman" panose="02020603050405020304" pitchFamily="18" charset="0"/>
              </a:rPr>
              <a:t>ausal relationships between variables were modeled using a Structural Causal Model (SCM) integrated into a Graph Attention Network (GAT), enabling soybean yield prediction from satellite remote sensing and weather data.</a:t>
            </a:r>
            <a:endParaRPr lang="en-IN" sz="1800" dirty="0">
              <a:latin typeface="Times New Roman" panose="02020603050405020304" pitchFamily="18" charset="0"/>
              <a:cs typeface="Times New Roman" panose="02020603050405020304" pitchFamily="18" charset="0"/>
            </a:endParaRPr>
          </a:p>
          <a:p>
            <a:pPr marL="285750" indent="-342000" algn="just">
              <a:lnSpc>
                <a:spcPct val="120000"/>
              </a:lnSpc>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Key Findings:</a:t>
            </a:r>
          </a:p>
          <a:p>
            <a:pPr marL="342900" indent="-342000" algn="just">
              <a:lnSpc>
                <a:spcPct val="120000"/>
              </a:lnSpc>
              <a:buFont typeface="+mj-lt"/>
              <a:buAutoNum type="arabicPeriod"/>
            </a:pPr>
            <a:r>
              <a:rPr lang="en-IN" sz="1800" dirty="0">
                <a:latin typeface="Times New Roman" panose="02020603050405020304" pitchFamily="18" charset="0"/>
                <a:cs typeface="Times New Roman" panose="02020603050405020304" pitchFamily="18" charset="0"/>
              </a:rPr>
              <a:t>Causal Relationship Integration</a:t>
            </a:r>
            <a:r>
              <a:rPr lang="en-US" sz="1800" dirty="0">
                <a:latin typeface="Times New Roman" panose="02020603050405020304" pitchFamily="18" charset="0"/>
                <a:cs typeface="Times New Roman" panose="02020603050405020304" pitchFamily="18" charset="0"/>
              </a:rPr>
              <a:t>.</a:t>
            </a:r>
          </a:p>
          <a:p>
            <a:pPr marL="342900" indent="-342000" algn="just">
              <a:lnSpc>
                <a:spcPct val="120000"/>
              </a:lnSpc>
              <a:buFont typeface="+mj-lt"/>
              <a:buAutoNum type="arabicPeriod"/>
            </a:pPr>
            <a:r>
              <a:rPr lang="en-IN" sz="1800" dirty="0">
                <a:latin typeface="Times New Roman" panose="02020603050405020304" pitchFamily="18" charset="0"/>
                <a:cs typeface="Times New Roman" panose="02020603050405020304" pitchFamily="18" charset="0"/>
              </a:rPr>
              <a:t>Superior Performance over Baselines</a:t>
            </a:r>
            <a:r>
              <a:rPr lang="en-US" sz="1800" dirty="0">
                <a:latin typeface="Times New Roman" panose="02020603050405020304" pitchFamily="18" charset="0"/>
                <a:cs typeface="Times New Roman" panose="02020603050405020304" pitchFamily="18" charset="0"/>
              </a:rPr>
              <a:t>.</a:t>
            </a:r>
          </a:p>
          <a:p>
            <a:pPr marL="285750" indent="-342000" algn="just">
              <a:lnSpc>
                <a:spcPct val="120000"/>
              </a:lnSpc>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Limitations:</a:t>
            </a:r>
          </a:p>
          <a:p>
            <a:pPr marL="342900" indent="-342000" algn="just">
              <a:lnSpc>
                <a:spcPct val="120000"/>
              </a:lnSpc>
              <a:buFont typeface="+mj-lt"/>
              <a:buAutoNum type="arabicPeriod"/>
            </a:pPr>
            <a:r>
              <a:rPr lang="en-IN" sz="1800" dirty="0">
                <a:latin typeface="Times New Roman" panose="02020603050405020304" pitchFamily="18" charset="0"/>
                <a:cs typeface="Times New Roman" panose="02020603050405020304" pitchFamily="18" charset="0"/>
              </a:rPr>
              <a:t>High Computational Complexity</a:t>
            </a:r>
            <a:r>
              <a:rPr lang="en-US" sz="1800" dirty="0">
                <a:latin typeface="Times New Roman" panose="02020603050405020304" pitchFamily="18" charset="0"/>
                <a:cs typeface="Times New Roman" panose="02020603050405020304" pitchFamily="18" charset="0"/>
              </a:rPr>
              <a:t>.</a:t>
            </a:r>
          </a:p>
          <a:p>
            <a:pPr marL="342900" indent="-342000" algn="just">
              <a:lnSpc>
                <a:spcPct val="120000"/>
              </a:lnSpc>
              <a:buFont typeface="+mj-lt"/>
              <a:buAutoNum type="arabicPeriod"/>
            </a:pPr>
            <a:r>
              <a:rPr lang="en-US" sz="1800" dirty="0">
                <a:latin typeface="Times New Roman" panose="02020603050405020304" pitchFamily="18" charset="0"/>
                <a:cs typeface="Times New Roman" panose="02020603050405020304" pitchFamily="18" charset="0"/>
              </a:rPr>
              <a:t>Limited Generalizability to Other Crops.</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389263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57E2F2-22F1-C75B-0D9A-69E5F9669B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182D74-5A99-BE4F-EB36-23EEFAD08AC8}"/>
              </a:ext>
            </a:extLst>
          </p:cNvPr>
          <p:cNvSpPr>
            <a:spLocks noGrp="1"/>
          </p:cNvSpPr>
          <p:nvPr>
            <p:ph type="ctrTitle"/>
          </p:nvPr>
        </p:nvSpPr>
        <p:spPr>
          <a:xfrm>
            <a:off x="377125" y="241160"/>
            <a:ext cx="9144000" cy="533074"/>
          </a:xfrm>
        </p:spPr>
        <p:txBody>
          <a:bodyPr>
            <a:normAutofit/>
          </a:bodyPr>
          <a:lstStyle/>
          <a:p>
            <a:pPr algn="l"/>
            <a:r>
              <a:rPr lang="en-IN" sz="2700" b="1" dirty="0">
                <a:latin typeface="Times New Roman" panose="02020603050405020304" pitchFamily="18" charset="0"/>
                <a:cs typeface="Times New Roman" panose="02020603050405020304" pitchFamily="18" charset="0"/>
              </a:rPr>
              <a:t>5. </a:t>
            </a:r>
            <a:r>
              <a:rPr lang="en-US" sz="2800" b="1" u="sng" dirty="0">
                <a:latin typeface="Times New Roman" panose="02020603050405020304" pitchFamily="18" charset="0"/>
                <a:cs typeface="Times New Roman" panose="02020603050405020304" pitchFamily="18" charset="0"/>
              </a:rPr>
              <a:t>Literature Survey: Paper 5</a:t>
            </a:r>
            <a:endParaRPr lang="en-IN" sz="2800" dirty="0"/>
          </a:p>
        </p:txBody>
      </p:sp>
      <p:sp>
        <p:nvSpPr>
          <p:cNvPr id="3" name="Subtitle 2">
            <a:extLst>
              <a:ext uri="{FF2B5EF4-FFF2-40B4-BE49-F238E27FC236}">
                <a16:creationId xmlns:a16="http://schemas.microsoft.com/office/drawing/2014/main" id="{A3F53B3C-A312-BCD6-CFBF-5303E47909B4}"/>
              </a:ext>
            </a:extLst>
          </p:cNvPr>
          <p:cNvSpPr>
            <a:spLocks noGrp="1"/>
          </p:cNvSpPr>
          <p:nvPr>
            <p:ph type="subTitle" idx="1"/>
          </p:nvPr>
        </p:nvSpPr>
        <p:spPr>
          <a:xfrm>
            <a:off x="377125" y="1265923"/>
            <a:ext cx="11437749" cy="5506666"/>
          </a:xfrm>
        </p:spPr>
        <p:txBody>
          <a:bodyPr>
            <a:noAutofit/>
          </a:bodyPr>
          <a:lstStyle/>
          <a:p>
            <a:pPr marL="342900" indent="-342900" algn="l">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Authors: </a:t>
            </a:r>
            <a:r>
              <a:rPr lang="en-IN" sz="1800" dirty="0">
                <a:latin typeface="Times New Roman" panose="02020603050405020304" pitchFamily="18" charset="0"/>
                <a:cs typeface="Times New Roman" panose="02020603050405020304" pitchFamily="18" charset="0"/>
              </a:rPr>
              <a:t>Kathirvel Narayanasamy and Ilayaraja Venkatachalam.</a:t>
            </a:r>
            <a:endParaRPr lang="en" sz="1800" b="1" dirty="0">
              <a:solidFill>
                <a:schemeClr val="tx1">
                  <a:lumMod val="95000"/>
                  <a:lumOff val="5000"/>
                </a:schemeClr>
              </a:solidFill>
              <a:latin typeface="Times New Roman" panose="02020603050405020304" pitchFamily="18" charset="0"/>
              <a:cs typeface="Times New Roman" panose="02020603050405020304" pitchFamily="18" charset="0"/>
              <a:sym typeface="Times New Roman"/>
            </a:endParaRPr>
          </a:p>
          <a:p>
            <a:pPr indent="-342000" algn="just">
              <a:lnSpc>
                <a:spcPct val="120000"/>
              </a:lnSpc>
              <a:spcBef>
                <a:spcPts val="0"/>
              </a:spcBef>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Year: </a:t>
            </a:r>
            <a:r>
              <a:rPr lang="en-US" sz="2000" dirty="0">
                <a:latin typeface="Times New Roman" panose="02020603050405020304" pitchFamily="18" charset="0"/>
                <a:cs typeface="Times New Roman" panose="02020603050405020304" pitchFamily="18" charset="0"/>
              </a:rPr>
              <a:t>June 2025</a:t>
            </a:r>
          </a:p>
          <a:p>
            <a:pPr marL="342900" indent="-342900" algn="l">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Title: </a:t>
            </a:r>
            <a:r>
              <a:rPr lang="en-US" sz="1800" dirty="0">
                <a:latin typeface="Times New Roman" panose="02020603050405020304" pitchFamily="18" charset="0"/>
                <a:cs typeface="Times New Roman" panose="02020603050405020304" pitchFamily="18" charset="0"/>
              </a:rPr>
              <a:t>Predicting Sugar Yield From Sugarcane Using Machine Learning for Jaggery Production</a:t>
            </a:r>
            <a:r>
              <a:rPr lang="en-US" sz="2000" dirty="0">
                <a:latin typeface="Arial (Body)"/>
              </a:rPr>
              <a:t>.</a:t>
            </a:r>
          </a:p>
          <a:p>
            <a:pPr marL="342900" indent="-342900" algn="l">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Methodology: </a:t>
            </a:r>
            <a:r>
              <a:rPr lang="en-US" sz="1800" dirty="0">
                <a:latin typeface="Times New Roman" panose="02020603050405020304" pitchFamily="18" charset="0"/>
                <a:cs typeface="Times New Roman" panose="02020603050405020304" pitchFamily="18" charset="0"/>
              </a:rPr>
              <a:t>Random Forest and other regression models were trained on a dataset of sugarcane physicochemical properties and environmental factors, using SHAP and Lasso for feature interpretation and hyperparameter tuning for optimal performance.</a:t>
            </a:r>
            <a:endParaRPr lang="en-IN" sz="1800" dirty="0">
              <a:latin typeface="Times New Roman" panose="02020603050405020304" pitchFamily="18" charset="0"/>
              <a:cs typeface="Times New Roman" panose="02020603050405020304" pitchFamily="18" charset="0"/>
            </a:endParaRPr>
          </a:p>
          <a:p>
            <a:pPr indent="-342000" algn="just">
              <a:lnSpc>
                <a:spcPct val="12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Key Findings:</a:t>
            </a:r>
          </a:p>
          <a:p>
            <a:pPr marL="115200" indent="-457200" algn="just">
              <a:lnSpc>
                <a:spcPct val="120000"/>
              </a:lnSpc>
              <a:buFont typeface="+mj-lt"/>
              <a:buAutoNum type="arabicPeriod"/>
            </a:pPr>
            <a:r>
              <a:rPr lang="en-US" sz="1800" dirty="0">
                <a:latin typeface="Times New Roman" panose="02020603050405020304" pitchFamily="18" charset="0"/>
                <a:cs typeface="Times New Roman" panose="02020603050405020304" pitchFamily="18" charset="0"/>
              </a:rPr>
              <a:t>High Predictive Accuracy (R² = 0.9503).</a:t>
            </a:r>
          </a:p>
          <a:p>
            <a:pPr marL="115200" indent="-457200" algn="just">
              <a:lnSpc>
                <a:spcPct val="120000"/>
              </a:lnSpc>
              <a:buFont typeface="+mj-lt"/>
              <a:buAutoNum type="arabicPeriod"/>
            </a:pPr>
            <a:r>
              <a:rPr lang="en-US" sz="1800" dirty="0">
                <a:latin typeface="Times New Roman" panose="02020603050405020304" pitchFamily="18" charset="0"/>
                <a:cs typeface="Times New Roman" panose="02020603050405020304" pitchFamily="18" charset="0"/>
              </a:rPr>
              <a:t>Practical Implications for Jaggery Industry .</a:t>
            </a:r>
          </a:p>
          <a:p>
            <a:pPr indent="-342000" algn="just">
              <a:lnSpc>
                <a:spcPct val="12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Limitations:</a:t>
            </a:r>
          </a:p>
          <a:p>
            <a:pPr marL="115200" indent="-457200" algn="just">
              <a:lnSpc>
                <a:spcPct val="120000"/>
              </a:lnSpc>
              <a:buFont typeface="+mj-lt"/>
              <a:buAutoNum type="arabicPeriod"/>
            </a:pPr>
            <a:r>
              <a:rPr lang="en-US" sz="1800" dirty="0">
                <a:latin typeface="Times New Roman" panose="02020603050405020304" pitchFamily="18" charset="0"/>
                <a:cs typeface="Times New Roman" panose="02020603050405020304" pitchFamily="18" charset="0"/>
              </a:rPr>
              <a:t>Reduced Accuracy at High Yield Values (&gt;120 kg/ton).</a:t>
            </a:r>
          </a:p>
          <a:p>
            <a:pPr marL="115200" indent="-457200" algn="just">
              <a:lnSpc>
                <a:spcPct val="120000"/>
              </a:lnSpc>
              <a:buFont typeface="+mj-lt"/>
              <a:buAutoNum type="arabicPeriod"/>
            </a:pPr>
            <a:r>
              <a:rPr lang="en-US" sz="1800" dirty="0">
                <a:latin typeface="Times New Roman" panose="02020603050405020304" pitchFamily="18" charset="0"/>
                <a:cs typeface="Times New Roman" panose="02020603050405020304" pitchFamily="18" charset="0"/>
              </a:rPr>
              <a:t>Potential for data imbalance.</a:t>
            </a:r>
          </a:p>
          <a:p>
            <a:pPr algn="just">
              <a:lnSpc>
                <a:spcPct val="300000"/>
              </a:lnSpc>
            </a:pP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908361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4FC34-C52C-098A-61EC-7FD4ED8F4748}"/>
              </a:ext>
            </a:extLst>
          </p:cNvPr>
          <p:cNvSpPr>
            <a:spLocks noGrp="1"/>
          </p:cNvSpPr>
          <p:nvPr>
            <p:ph type="title"/>
          </p:nvPr>
        </p:nvSpPr>
        <p:spPr>
          <a:xfrm>
            <a:off x="0" y="-14610"/>
            <a:ext cx="10226901" cy="336157"/>
          </a:xfrm>
        </p:spPr>
        <p:txBody>
          <a:bodyPr>
            <a:normAutofit fontScale="90000"/>
          </a:bodyPr>
          <a:lstStyle/>
          <a:p>
            <a:r>
              <a:rPr lang="en-IN" sz="2700" b="1" dirty="0">
                <a:latin typeface="Times New Roman" panose="02020603050405020304" pitchFamily="18" charset="0"/>
                <a:cs typeface="Times New Roman" panose="02020603050405020304" pitchFamily="18" charset="0"/>
              </a:rPr>
              <a:t>5. </a:t>
            </a:r>
            <a:r>
              <a:rPr lang="en-US" sz="2800" b="1" u="sng" dirty="0">
                <a:latin typeface="Times New Roman" panose="02020603050405020304" pitchFamily="18" charset="0"/>
                <a:cs typeface="Times New Roman" panose="02020603050405020304" pitchFamily="18" charset="0"/>
              </a:rPr>
              <a:t>Literature Survey</a:t>
            </a:r>
            <a:endParaRPr lang="en-IN" b="1" u="sng" dirty="0"/>
          </a:p>
        </p:txBody>
      </p:sp>
      <p:graphicFrame>
        <p:nvGraphicFramePr>
          <p:cNvPr id="5" name="Table 4">
            <a:extLst>
              <a:ext uri="{FF2B5EF4-FFF2-40B4-BE49-F238E27FC236}">
                <a16:creationId xmlns:a16="http://schemas.microsoft.com/office/drawing/2014/main" id="{76DE06B9-CEB0-5A64-674B-5C8A2E6F1C58}"/>
              </a:ext>
            </a:extLst>
          </p:cNvPr>
          <p:cNvGraphicFramePr>
            <a:graphicFrameLocks noGrp="1"/>
          </p:cNvGraphicFramePr>
          <p:nvPr>
            <p:extLst>
              <p:ext uri="{D42A27DB-BD31-4B8C-83A1-F6EECF244321}">
                <p14:modId xmlns:p14="http://schemas.microsoft.com/office/powerpoint/2010/main" val="517633511"/>
              </p:ext>
            </p:extLst>
          </p:nvPr>
        </p:nvGraphicFramePr>
        <p:xfrm>
          <a:off x="-36046" y="391886"/>
          <a:ext cx="12155021" cy="6718290"/>
        </p:xfrm>
        <a:graphic>
          <a:graphicData uri="http://schemas.openxmlformats.org/drawingml/2006/table">
            <a:tbl>
              <a:tblPr firstRow="1" bandRow="1">
                <a:tableStyleId>{5C22544A-7EE6-4342-B048-85BDC9FD1C3A}</a:tableStyleId>
              </a:tblPr>
              <a:tblGrid>
                <a:gridCol w="435293">
                  <a:extLst>
                    <a:ext uri="{9D8B030D-6E8A-4147-A177-3AD203B41FA5}">
                      <a16:colId xmlns:a16="http://schemas.microsoft.com/office/drawing/2014/main" val="3789742966"/>
                    </a:ext>
                  </a:extLst>
                </a:gridCol>
                <a:gridCol w="2058520">
                  <a:extLst>
                    <a:ext uri="{9D8B030D-6E8A-4147-A177-3AD203B41FA5}">
                      <a16:colId xmlns:a16="http://schemas.microsoft.com/office/drawing/2014/main" val="3743942437"/>
                    </a:ext>
                  </a:extLst>
                </a:gridCol>
                <a:gridCol w="1657068">
                  <a:extLst>
                    <a:ext uri="{9D8B030D-6E8A-4147-A177-3AD203B41FA5}">
                      <a16:colId xmlns:a16="http://schemas.microsoft.com/office/drawing/2014/main" val="3986470590"/>
                    </a:ext>
                  </a:extLst>
                </a:gridCol>
                <a:gridCol w="2775646">
                  <a:extLst>
                    <a:ext uri="{9D8B030D-6E8A-4147-A177-3AD203B41FA5}">
                      <a16:colId xmlns:a16="http://schemas.microsoft.com/office/drawing/2014/main" val="2669560552"/>
                    </a:ext>
                  </a:extLst>
                </a:gridCol>
                <a:gridCol w="2592474">
                  <a:extLst>
                    <a:ext uri="{9D8B030D-6E8A-4147-A177-3AD203B41FA5}">
                      <a16:colId xmlns:a16="http://schemas.microsoft.com/office/drawing/2014/main" val="2972036299"/>
                    </a:ext>
                  </a:extLst>
                </a:gridCol>
                <a:gridCol w="2636020">
                  <a:extLst>
                    <a:ext uri="{9D8B030D-6E8A-4147-A177-3AD203B41FA5}">
                      <a16:colId xmlns:a16="http://schemas.microsoft.com/office/drawing/2014/main" val="2827618894"/>
                    </a:ext>
                  </a:extLst>
                </a:gridCol>
              </a:tblGrid>
              <a:tr h="60469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dirty="0"/>
                        <a:t>Sr.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dirty="0"/>
                        <a:t>No</a:t>
                      </a:r>
                      <a:endParaRPr lang="en-IN" sz="1400" b="0" i="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sz="1400" b="0" dirty="0">
                          <a:solidFill>
                            <a:schemeClr val="bg1"/>
                          </a:solidFill>
                          <a:sym typeface="Times New Roman"/>
                        </a:rPr>
                        <a:t>Author(s) &amp; Year</a:t>
                      </a:r>
                      <a:endParaRPr lang="en-IN" sz="1400" b="0" dirty="0">
                        <a:solidFill>
                          <a:schemeClr val="bg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1400" b="0" dirty="0">
                        <a:solidFill>
                          <a:schemeClr val="bg1"/>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sz="1400" b="0" dirty="0">
                          <a:solidFill>
                            <a:schemeClr val="bg1"/>
                          </a:solidFill>
                          <a:sym typeface="Times New Roman"/>
                        </a:rPr>
                        <a:t>Title of Paper </a:t>
                      </a:r>
                      <a:endParaRPr lang="en-IN" sz="1400" b="0" dirty="0">
                        <a:solidFill>
                          <a:schemeClr val="bg1"/>
                        </a:solidFill>
                      </a:endParaRPr>
                    </a:p>
                    <a:p>
                      <a:endParaRPr lang="en-IN" sz="1400" b="0" dirty="0">
                        <a:solidFill>
                          <a:schemeClr val="bg1"/>
                        </a:solidFill>
                        <a:latin typeface="Times New Roman" panose="02020603050405020304" pitchFamily="18" charset="0"/>
                        <a:cs typeface="Times New Roman" panose="02020603050405020304" pitchFamily="18" charset="0"/>
                      </a:endParaRPr>
                    </a:p>
                  </a:txBody>
                  <a:tcPr/>
                </a:tc>
                <a:tc>
                  <a:txBody>
                    <a:bodyPr/>
                    <a:lstStyle/>
                    <a:p>
                      <a:r>
                        <a:rPr lang="en-US" sz="1400" b="0" dirty="0">
                          <a:solidFill>
                            <a:schemeClr val="bg1"/>
                          </a:solidFill>
                        </a:rPr>
                        <a:t>Methodology</a:t>
                      </a:r>
                      <a:endParaRPr lang="en-IN" sz="1400" b="0" dirty="0">
                        <a:solidFill>
                          <a:schemeClr val="bg1"/>
                        </a:solidFill>
                        <a:latin typeface="Times New Roman" panose="02020603050405020304" pitchFamily="18" charset="0"/>
                        <a:cs typeface="Times New Roman" panose="02020603050405020304" pitchFamily="18" charset="0"/>
                      </a:endParaRPr>
                    </a:p>
                  </a:txBody>
                  <a:tcPr/>
                </a:tc>
                <a:tc>
                  <a:txBody>
                    <a:bodyPr/>
                    <a:lstStyle/>
                    <a:p>
                      <a:r>
                        <a:rPr lang="en" sz="1400" b="0" dirty="0">
                          <a:solidFill>
                            <a:schemeClr val="bg1"/>
                          </a:solidFill>
                          <a:sym typeface="Times New Roman"/>
                        </a:rPr>
                        <a:t>Key Findings</a:t>
                      </a:r>
                      <a:endParaRPr lang="en-IN" sz="1400" b="0" dirty="0">
                        <a:solidFill>
                          <a:schemeClr val="bg1"/>
                        </a:solidFill>
                        <a:latin typeface="Times New Roman" panose="02020603050405020304" pitchFamily="18" charset="0"/>
                        <a:cs typeface="Times New Roman" panose="02020603050405020304" pitchFamily="18" charset="0"/>
                      </a:endParaRPr>
                    </a:p>
                  </a:txBody>
                  <a:tcPr/>
                </a:tc>
                <a:tc>
                  <a:txBody>
                    <a:bodyPr/>
                    <a:lstStyle/>
                    <a:p>
                      <a:r>
                        <a:rPr lang="en" sz="1400" b="0" dirty="0">
                          <a:solidFill>
                            <a:schemeClr val="bg1"/>
                          </a:solidFill>
                          <a:sym typeface="Times New Roman"/>
                        </a:rPr>
                        <a:t>Limitations</a:t>
                      </a:r>
                      <a:endParaRPr lang="en-IN" sz="1400" b="0" dirty="0">
                        <a:solidFill>
                          <a:schemeClr val="bg1"/>
                        </a:solidFill>
                      </a:endParaRPr>
                    </a:p>
                  </a:txBody>
                  <a:tcPr/>
                </a:tc>
                <a:extLst>
                  <a:ext uri="{0D108BD9-81ED-4DB2-BD59-A6C34878D82A}">
                    <a16:rowId xmlns:a16="http://schemas.microsoft.com/office/drawing/2014/main" val="3647844626"/>
                  </a:ext>
                </a:extLst>
              </a:tr>
              <a:tr h="1727697">
                <a:tc>
                  <a:txBody>
                    <a:bodyPr/>
                    <a:lstStyle/>
                    <a:p>
                      <a:r>
                        <a:rPr lang="en-US" dirty="0"/>
                        <a:t>1</a:t>
                      </a:r>
                      <a:endParaRPr lang="en-IN" dirty="0"/>
                    </a:p>
                  </a:txBody>
                  <a:tcPr/>
                </a:tc>
                <a:tc>
                  <a:txBody>
                    <a:bodyPr/>
                    <a:lstStyle/>
                    <a:p>
                      <a:pPr marL="0" indent="0" algn="l">
                        <a:buFont typeface="Arial" panose="020B0604020202020204" pitchFamily="34" charset="0"/>
                        <a:buNone/>
                      </a:pPr>
                      <a:r>
                        <a:rPr lang="en-IN" sz="1400" b="1" dirty="0"/>
                        <a:t>Nidhi Kundu, Geeta Rani, </a:t>
                      </a:r>
                      <a:r>
                        <a:rPr lang="en-IN" sz="1400" b="1" dirty="0" err="1"/>
                        <a:t>Vijaypal</a:t>
                      </a:r>
                      <a:r>
                        <a:rPr lang="en-IN" sz="1400" b="1" dirty="0"/>
                        <a:t> Singh Dhaka, Kalpit Gupta, </a:t>
                      </a:r>
                      <a:r>
                        <a:rPr lang="en-IN" sz="1400" b="1" dirty="0" err="1"/>
                        <a:t>Siddaiah</a:t>
                      </a:r>
                      <a:r>
                        <a:rPr lang="en-IN" sz="1400" b="1" dirty="0"/>
                        <a:t> Chandra Nayaka, Eugenio Vocaturo, Ester Zumpano</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 sz="1400" dirty="0">
                          <a:solidFill>
                            <a:schemeClr val="tx1">
                              <a:lumMod val="95000"/>
                              <a:lumOff val="5000"/>
                            </a:schemeClr>
                          </a:solidFill>
                          <a:sym typeface="Times New Roman"/>
                        </a:rPr>
                        <a:t>November</a:t>
                      </a:r>
                      <a:r>
                        <a:rPr lang="en" sz="1600" u="none" strike="noStrike" cap="none" dirty="0">
                          <a:solidFill>
                            <a:schemeClr val="tx1">
                              <a:lumMod val="95000"/>
                              <a:lumOff val="5000"/>
                            </a:schemeClr>
                          </a:solidFill>
                          <a:sym typeface="Times New Roman"/>
                        </a:rPr>
                        <a:t> 2022</a:t>
                      </a:r>
                      <a:endParaRPr lang="en" sz="1600" b="1" dirty="0">
                        <a:solidFill>
                          <a:schemeClr val="tx1">
                            <a:lumMod val="95000"/>
                            <a:lumOff val="5000"/>
                          </a:schemeClr>
                        </a:solidFill>
                        <a:latin typeface="Arial" panose="020B0604020202020204" pitchFamily="34" charset="0"/>
                        <a:cs typeface="Arial" panose="020B0604020202020204" pitchFamily="34" charset="0"/>
                        <a:sym typeface="Times New Roman"/>
                      </a:endParaRPr>
                    </a:p>
                  </a:txBody>
                  <a:tcPr/>
                </a:tc>
                <a:tc>
                  <a:txBody>
                    <a:bodyPr/>
                    <a:lstStyle/>
                    <a:p>
                      <a:pPr marL="0" indent="0" algn="l">
                        <a:buFont typeface="Arial" panose="020B0604020202020204" pitchFamily="34" charset="0"/>
                        <a:buNone/>
                      </a:pPr>
                      <a:r>
                        <a:rPr lang="en-US" sz="1400" dirty="0"/>
                        <a:t>Disease detection, severity prediction, and crop loss estimation in Maize Crop using deep learning.</a:t>
                      </a:r>
                      <a:endParaRPr lang="en-US" sz="1400" dirty="0">
                        <a:latin typeface="Arial (Body)"/>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A convolutional neural network (CNN) model was trained on labeled images of maize leaves to detect disease type and severity, and estimate crop loss, followed by visualization of key features using Grad-CAM.</a:t>
                      </a:r>
                      <a:endParaRPr lang="en-IN" sz="1400" dirty="0">
                        <a:latin typeface="Arial (Body)"/>
                      </a:endParaRPr>
                    </a:p>
                  </a:txBody>
                  <a:tcPr/>
                </a:tc>
                <a:tc>
                  <a:txBody>
                    <a:bodyPr/>
                    <a:lstStyle/>
                    <a:p>
                      <a:pPr marL="285750" indent="-285750">
                        <a:buFont typeface="Wingdings" panose="05000000000000000000" pitchFamily="2" charset="2"/>
                        <a:buChar char="§"/>
                      </a:pPr>
                      <a:r>
                        <a:rPr lang="en-US" sz="1400" dirty="0"/>
                        <a:t>High Accuracy (98.5%) </a:t>
                      </a:r>
                    </a:p>
                    <a:p>
                      <a:pPr marL="285750" indent="-285750">
                        <a:buFont typeface="Wingdings" panose="05000000000000000000" pitchFamily="2" charset="2"/>
                        <a:buChar char="§"/>
                      </a:pPr>
                      <a:r>
                        <a:rPr lang="en-US" sz="1400" dirty="0"/>
                        <a:t>Real-life Dataset </a:t>
                      </a:r>
                    </a:p>
                    <a:p>
                      <a:pPr marL="285750" indent="-285750">
                        <a:buFont typeface="Wingdings" panose="05000000000000000000" pitchFamily="2" charset="2"/>
                        <a:buChar char="§"/>
                      </a:pPr>
                      <a:r>
                        <a:rPr lang="en-US" sz="1400" dirty="0"/>
                        <a:t>Integrated Web Application </a:t>
                      </a:r>
                    </a:p>
                    <a:p>
                      <a:pPr marL="285750" indent="-285750">
                        <a:buFont typeface="Wingdings" panose="05000000000000000000" pitchFamily="2" charset="2"/>
                        <a:buChar char="§"/>
                      </a:pPr>
                      <a:r>
                        <a:rPr lang="en-US" sz="1400" dirty="0"/>
                        <a:t>Feature Visualization (Grad-CAM)</a:t>
                      </a:r>
                    </a:p>
                    <a:p>
                      <a:pPr marL="285750" indent="-285750">
                        <a:buFont typeface="Wingdings" panose="05000000000000000000" pitchFamily="2" charset="2"/>
                        <a:buChar char="§"/>
                      </a:pPr>
                      <a:r>
                        <a:rPr lang="en-US" sz="1400" dirty="0"/>
                        <a:t>Low Training Time </a:t>
                      </a:r>
                      <a:endParaRPr lang="en-IN" sz="1400" b="0" dirty="0">
                        <a:latin typeface="Arial (Body)"/>
                      </a:endParaRPr>
                    </a:p>
                  </a:txBody>
                  <a:tcPr/>
                </a:tc>
                <a:tc>
                  <a:txBody>
                    <a:bodyPr/>
                    <a:lstStyle/>
                    <a:p>
                      <a:pPr marL="342900" indent="-342900" algn="l">
                        <a:buFont typeface="Wingdings" panose="05000000000000000000" pitchFamily="2" charset="2"/>
                        <a:buChar char="§"/>
                      </a:pPr>
                      <a:r>
                        <a:rPr lang="en-US" sz="1400" b="0" dirty="0"/>
                        <a:t>Lack of Generalization Complex Background Handling.</a:t>
                      </a:r>
                      <a:endParaRPr lang="en-IN" sz="1400" b="0" dirty="0"/>
                    </a:p>
                    <a:p>
                      <a:pPr marL="342900" indent="-342900" algn="l">
                        <a:buFont typeface="Wingdings" panose="05000000000000000000" pitchFamily="2" charset="2"/>
                        <a:buChar char="§"/>
                      </a:pPr>
                      <a:r>
                        <a:rPr lang="en-US" sz="1400" b="0" dirty="0"/>
                        <a:t>Limited Severity Prediction Techniques</a:t>
                      </a:r>
                    </a:p>
                    <a:p>
                      <a:pPr marL="342900" indent="-342900" algn="l">
                        <a:buFont typeface="Wingdings" panose="05000000000000000000" pitchFamily="2" charset="2"/>
                        <a:buChar char="§"/>
                      </a:pPr>
                      <a:r>
                        <a:rPr lang="en-US" sz="1400" b="0" dirty="0"/>
                        <a:t>Hardware Requirements </a:t>
                      </a:r>
                    </a:p>
                    <a:p>
                      <a:pPr marL="342900" indent="-342900" algn="l">
                        <a:buFont typeface="Wingdings" panose="05000000000000000000" pitchFamily="2" charset="2"/>
                        <a:buChar char="§"/>
                      </a:pPr>
                      <a:r>
                        <a:rPr lang="en-US" sz="1400" b="0" dirty="0"/>
                        <a:t>Assumes Full Data Availability</a:t>
                      </a:r>
                      <a:endParaRPr lang="en-IN" sz="1400" b="0" dirty="0"/>
                    </a:p>
                  </a:txBody>
                  <a:tcPr/>
                </a:tc>
                <a:extLst>
                  <a:ext uri="{0D108BD9-81ED-4DB2-BD59-A6C34878D82A}">
                    <a16:rowId xmlns:a16="http://schemas.microsoft.com/office/drawing/2014/main" val="576481222"/>
                  </a:ext>
                </a:extLst>
              </a:tr>
              <a:tr h="1900467">
                <a:tc>
                  <a:txBody>
                    <a:bodyPr/>
                    <a:lstStyle/>
                    <a:p>
                      <a:r>
                        <a:rPr lang="en-US" dirty="0"/>
                        <a:t>2</a:t>
                      </a:r>
                      <a:endParaRPr lang="en-IN" dirty="0"/>
                    </a:p>
                  </a:txBody>
                  <a:tcPr/>
                </a:tc>
                <a:tc>
                  <a:txBody>
                    <a:bodyPr/>
                    <a:lstStyle/>
                    <a:p>
                      <a:pPr marL="0" indent="0" algn="l">
                        <a:buFont typeface="Arial" panose="020B0604020202020204" pitchFamily="34" charset="0"/>
                        <a:buNone/>
                      </a:pPr>
                      <a:r>
                        <a:rPr lang="en-IN" sz="1400" b="1" dirty="0"/>
                        <a:t>Muhammad Ashfaq, Muhammad Usman Tariq, Imran Khan, Abdul Rahman Alzahrani, Humera Khan and Anwar Ghani.</a:t>
                      </a:r>
                      <a:endParaRPr lang="en" sz="1400" b="1" dirty="0">
                        <a:solidFill>
                          <a:schemeClr val="tx1">
                            <a:lumMod val="95000"/>
                            <a:lumOff val="5000"/>
                          </a:schemeClr>
                        </a:solidFill>
                        <a:sym typeface="Times New Roman"/>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IN" sz="1400" dirty="0">
                          <a:solidFill>
                            <a:schemeClr val="tx1">
                              <a:lumMod val="95000"/>
                              <a:lumOff val="5000"/>
                            </a:schemeClr>
                          </a:solidFill>
                          <a:sym typeface="Times New Roman"/>
                        </a:rPr>
                        <a:t>March 2024</a:t>
                      </a:r>
                      <a:endParaRPr lang="en" sz="1400" dirty="0">
                        <a:solidFill>
                          <a:schemeClr val="tx1">
                            <a:lumMod val="95000"/>
                            <a:lumOff val="5000"/>
                          </a:schemeClr>
                        </a:solidFill>
                        <a:latin typeface="Arial (Body)"/>
                        <a:cs typeface="Times New Roman"/>
                        <a:sym typeface="Times New Roman"/>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Accurate Wheat Yield Prediction Using Machine Learning and Climate-NDVI Data Fusion.</a:t>
                      </a:r>
                      <a:endParaRPr lang="en-US" sz="1400" dirty="0">
                        <a:latin typeface="Arial (Body)"/>
                      </a:endParaRPr>
                    </a:p>
                  </a:txBody>
                  <a:tcPr/>
                </a:tc>
                <a:tc>
                  <a:txBody>
                    <a:bodyPr/>
                    <a:lstStyle/>
                    <a:p>
                      <a:r>
                        <a:rPr lang="en-IN" sz="1400" dirty="0"/>
                        <a:t>Multiple machine learning algorithms (SVM, Random Forest, LASSO) were applied to fused satellite NDVI and climate data, with hyperparameter optimization, to predict wheat yield per region in Pakistan.</a:t>
                      </a:r>
                      <a:endParaRPr lang="en-IN" sz="1400" dirty="0">
                        <a:latin typeface="Arial (Body)"/>
                      </a:endParaRPr>
                    </a:p>
                  </a:txBody>
                  <a:tcPr/>
                </a:tc>
                <a:tc>
                  <a:txBody>
                    <a:bodyPr/>
                    <a:lstStyle/>
                    <a:p>
                      <a:pPr marL="285750" indent="-285750">
                        <a:buFont typeface="Wingdings" panose="05000000000000000000" pitchFamily="2" charset="2"/>
                        <a:buChar char="§"/>
                      </a:pPr>
                      <a:r>
                        <a:rPr lang="en-US" sz="1400" b="0" dirty="0"/>
                        <a:t>High Performance (R²: 0.74–0.88) </a:t>
                      </a:r>
                    </a:p>
                    <a:p>
                      <a:pPr marL="285750" indent="-285750">
                        <a:buFont typeface="Wingdings" panose="05000000000000000000" pitchFamily="2" charset="2"/>
                        <a:buChar char="§"/>
                      </a:pPr>
                      <a:r>
                        <a:rPr lang="en-IN" sz="1400" dirty="0"/>
                        <a:t>Multiple ML Algorithms Compared</a:t>
                      </a:r>
                    </a:p>
                    <a:p>
                      <a:pPr marL="285750" indent="-285750">
                        <a:buFont typeface="Wingdings" panose="05000000000000000000" pitchFamily="2" charset="2"/>
                        <a:buChar char="§"/>
                      </a:pPr>
                      <a:r>
                        <a:rPr lang="en-IN" sz="1400" dirty="0"/>
                        <a:t>Public Data Integration</a:t>
                      </a:r>
                    </a:p>
                    <a:p>
                      <a:pPr marL="285750" indent="-285750">
                        <a:buFont typeface="Wingdings" panose="05000000000000000000" pitchFamily="2" charset="2"/>
                        <a:buChar char="§"/>
                      </a:pPr>
                      <a:r>
                        <a:rPr lang="en-US" sz="1400" dirty="0"/>
                        <a:t>Incorporation of Soil &amp; Spatial Data</a:t>
                      </a:r>
                    </a:p>
                    <a:p>
                      <a:pPr marL="285750" indent="-285750">
                        <a:buFont typeface="Wingdings" panose="05000000000000000000" pitchFamily="2" charset="2"/>
                        <a:buChar char="§"/>
                      </a:pPr>
                      <a:r>
                        <a:rPr lang="en-IN" sz="1400" b="0" dirty="0"/>
                        <a:t>Robust Against Climate Variability</a:t>
                      </a:r>
                      <a:endParaRPr lang="en-IN" sz="1400" b="0" dirty="0">
                        <a:latin typeface="Arial (Body)"/>
                      </a:endParaRPr>
                    </a:p>
                  </a:txBody>
                  <a:tcPr/>
                </a:tc>
                <a:tc>
                  <a:txBody>
                    <a:bodyPr/>
                    <a:lstStyle/>
                    <a:p>
                      <a:pPr marL="285750" indent="-285750" algn="l">
                        <a:buFont typeface="Wingdings" panose="05000000000000000000" pitchFamily="2" charset="2"/>
                        <a:buChar char="§"/>
                      </a:pPr>
                      <a:r>
                        <a:rPr lang="en-IN" sz="1400" dirty="0"/>
                        <a:t>Dependent on Data Quality</a:t>
                      </a:r>
                    </a:p>
                    <a:p>
                      <a:pPr marL="285750" indent="-285750" algn="l">
                        <a:buFont typeface="Wingdings" panose="05000000000000000000" pitchFamily="2" charset="2"/>
                        <a:buChar char="§"/>
                      </a:pPr>
                      <a:r>
                        <a:rPr lang="en-IN" sz="1400" dirty="0"/>
                        <a:t>Black-box ML Models</a:t>
                      </a:r>
                    </a:p>
                    <a:p>
                      <a:pPr marL="285750" indent="-285750" algn="l">
                        <a:buFont typeface="Wingdings" panose="05000000000000000000" pitchFamily="2" charset="2"/>
                        <a:buChar char="§"/>
                      </a:pPr>
                      <a:r>
                        <a:rPr lang="en-IN" sz="1400" dirty="0"/>
                        <a:t>Geographically Limited Study</a:t>
                      </a:r>
                    </a:p>
                    <a:p>
                      <a:pPr marL="285750" indent="-285750" algn="l">
                        <a:buFont typeface="Wingdings" panose="05000000000000000000" pitchFamily="2" charset="2"/>
                        <a:buChar char="§"/>
                      </a:pPr>
                      <a:r>
                        <a:rPr lang="en-IN" sz="1400" dirty="0"/>
                        <a:t>Limited Model Comparisons</a:t>
                      </a:r>
                    </a:p>
                    <a:p>
                      <a:pPr marL="285750" indent="-285750" algn="l">
                        <a:buFont typeface="Wingdings" panose="05000000000000000000" pitchFamily="2" charset="2"/>
                        <a:buChar char="§"/>
                      </a:pPr>
                      <a:r>
                        <a:rPr lang="en-IN" sz="1400" dirty="0"/>
                        <a:t>Feature Selection Complexity</a:t>
                      </a:r>
                      <a:endParaRPr lang="en-IN" sz="1400" b="0" dirty="0">
                        <a:latin typeface="Arial (Body)"/>
                      </a:endParaRPr>
                    </a:p>
                  </a:txBody>
                  <a:tcPr/>
                </a:tc>
                <a:extLst>
                  <a:ext uri="{0D108BD9-81ED-4DB2-BD59-A6C34878D82A}">
                    <a16:rowId xmlns:a16="http://schemas.microsoft.com/office/drawing/2014/main" val="261066102"/>
                  </a:ext>
                </a:extLst>
              </a:tr>
              <a:tr h="2303596">
                <a:tc>
                  <a:txBody>
                    <a:bodyPr/>
                    <a:lstStyle/>
                    <a:p>
                      <a:r>
                        <a:rPr lang="en-US" dirty="0"/>
                        <a:t>3</a:t>
                      </a:r>
                      <a:endParaRPr lang="en-IN" dirty="0"/>
                    </a:p>
                  </a:txBody>
                  <a:tcPr/>
                </a:tc>
                <a:tc>
                  <a:txBody>
                    <a:bodyPr/>
                    <a:lstStyle/>
                    <a:p>
                      <a:pPr marL="0" indent="0" algn="l">
                        <a:buFont typeface="Arial" panose="020B0604020202020204" pitchFamily="34" charset="0"/>
                        <a:buNone/>
                      </a:pPr>
                      <a:r>
                        <a:rPr lang="en-IN" sz="1400" b="1" dirty="0"/>
                        <a:t>Muhammad Rizwan, Khokher Changming Sun, </a:t>
                      </a:r>
                      <a:r>
                        <a:rPr lang="en-IN" sz="1400" b="1" dirty="0" err="1"/>
                        <a:t>Qiyu</a:t>
                      </a:r>
                      <a:r>
                        <a:rPr lang="en-IN" sz="1400" b="1" dirty="0"/>
                        <a:t> Liao, Adam </a:t>
                      </a:r>
                      <a:r>
                        <a:rPr lang="en-IN" sz="1400" b="1" dirty="0" err="1"/>
                        <a:t>L.Smith</a:t>
                      </a:r>
                      <a:r>
                        <a:rPr lang="en-IN" sz="1400" b="1" dirty="0"/>
                        <a:t>, Donald Mackenize, Mark R. Thomas, Dadong Wang, and Everard J. Edwards</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400" b="0" dirty="0"/>
                        <a:t>March 2023</a:t>
                      </a:r>
                      <a:endParaRPr lang="en-IN" sz="1400" b="0" dirty="0">
                        <a:latin typeface="Arial (Body)"/>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Early Yield Estimation in Viticulture Based on Grapevine Inflorescence Detection and Counting in Videos</a:t>
                      </a:r>
                      <a:endParaRPr lang="en-IN" sz="1400" dirty="0">
                        <a:latin typeface="Arial (Body)"/>
                      </a:endParaRPr>
                    </a:p>
                  </a:txBody>
                  <a:tcPr/>
                </a:tc>
                <a:tc>
                  <a:txBody>
                    <a:bodyPr/>
                    <a:lstStyle/>
                    <a:p>
                      <a:r>
                        <a:rPr lang="en-US" sz="1400" dirty="0"/>
                        <a:t>A custom video dataset was collected and a deep learning object detection model (YOLOv5) was used to detect and count grapevine inflorescences during early growth stages for predicting yield.</a:t>
                      </a:r>
                      <a:endParaRPr lang="en-IN" sz="1400" dirty="0">
                        <a:latin typeface="Arial (Body)"/>
                      </a:endParaRPr>
                    </a:p>
                  </a:txBody>
                  <a:tcPr/>
                </a:tc>
                <a:tc>
                  <a:txBody>
                    <a:bodyPr/>
                    <a:lstStyle/>
                    <a:p>
                      <a:pPr marL="342900" indent="-342900" algn="l">
                        <a:buFont typeface="Wingdings" panose="05000000000000000000" pitchFamily="2" charset="2"/>
                        <a:buChar char="§"/>
                      </a:pPr>
                      <a:r>
                        <a:rPr lang="en-US" sz="1400" dirty="0"/>
                        <a:t>Early Stage Prediction </a:t>
                      </a:r>
                    </a:p>
                    <a:p>
                      <a:pPr marL="342900" indent="-342900" algn="l">
                        <a:buFont typeface="Wingdings" panose="05000000000000000000" pitchFamily="2" charset="2"/>
                        <a:buChar char="§"/>
                      </a:pPr>
                      <a:r>
                        <a:rPr lang="en-IN" sz="1400" dirty="0"/>
                        <a:t>Custom Dataset Collected</a:t>
                      </a:r>
                    </a:p>
                    <a:p>
                      <a:pPr marL="342900" indent="-342900" algn="l">
                        <a:buFont typeface="Wingdings" panose="05000000000000000000" pitchFamily="2" charset="2"/>
                        <a:buChar char="§"/>
                      </a:pPr>
                      <a:r>
                        <a:rPr lang="en-IN" sz="1400" dirty="0"/>
                        <a:t>High Accuracy in Detection</a:t>
                      </a:r>
                    </a:p>
                    <a:p>
                      <a:pPr marL="342900" indent="-342900" algn="l">
                        <a:buFont typeface="Wingdings" panose="05000000000000000000" pitchFamily="2" charset="2"/>
                        <a:buChar char="§"/>
                      </a:pPr>
                      <a:r>
                        <a:rPr lang="en-IN" sz="1400" dirty="0"/>
                        <a:t>On-the-Go Measurements</a:t>
                      </a:r>
                    </a:p>
                    <a:p>
                      <a:pPr marL="342900" indent="-342900" algn="l">
                        <a:buFont typeface="Wingdings" panose="05000000000000000000" pitchFamily="2" charset="2"/>
                        <a:buChar char="§"/>
                      </a:pPr>
                      <a:r>
                        <a:rPr lang="en-IN" sz="1400" dirty="0"/>
                        <a:t>Non-destructive &amp; Contactless</a:t>
                      </a:r>
                      <a:endParaRPr lang="en-IN" sz="1400" b="0" dirty="0">
                        <a:latin typeface="Arial (Body)"/>
                      </a:endParaRPr>
                    </a:p>
                  </a:txBody>
                  <a:tcPr/>
                </a:tc>
                <a:tc>
                  <a:txBody>
                    <a:bodyPr/>
                    <a:lstStyle/>
                    <a:p>
                      <a:pPr marL="342900" indent="-342900" algn="l">
                        <a:buFont typeface="Wingdings" panose="05000000000000000000" pitchFamily="2" charset="2"/>
                        <a:buChar char="§"/>
                      </a:pPr>
                      <a:r>
                        <a:rPr lang="en-IN" sz="1400" dirty="0"/>
                        <a:t>Moderate Precision &amp; Recall (80%)</a:t>
                      </a:r>
                    </a:p>
                    <a:p>
                      <a:pPr marL="342900" indent="-342900" algn="l">
                        <a:buFont typeface="Wingdings" panose="05000000000000000000" pitchFamily="2" charset="2"/>
                        <a:buChar char="§"/>
                      </a:pPr>
                      <a:r>
                        <a:rPr lang="en-IN" sz="1400" dirty="0"/>
                        <a:t>High Annotation Effort</a:t>
                      </a:r>
                    </a:p>
                    <a:p>
                      <a:pPr marL="342900" indent="-342900" algn="l">
                        <a:buFont typeface="Wingdings" panose="05000000000000000000" pitchFamily="2" charset="2"/>
                        <a:buChar char="§"/>
                      </a:pPr>
                      <a:r>
                        <a:rPr lang="en-IN" sz="1400" dirty="0"/>
                        <a:t>Specialized Hardware Setup</a:t>
                      </a:r>
                    </a:p>
                    <a:p>
                      <a:pPr marL="342900" indent="-342900" algn="l">
                        <a:buFont typeface="Wingdings" panose="05000000000000000000" pitchFamily="2" charset="2"/>
                        <a:buChar char="§"/>
                      </a:pPr>
                      <a:r>
                        <a:rPr lang="en-IN" sz="1400" dirty="0"/>
                        <a:t>Limited Dataset Variety</a:t>
                      </a:r>
                    </a:p>
                    <a:p>
                      <a:pPr marL="342900" indent="-342900" algn="l">
                        <a:buFont typeface="Wingdings" panose="05000000000000000000" pitchFamily="2" charset="2"/>
                        <a:buChar char="§"/>
                      </a:pPr>
                      <a:r>
                        <a:rPr lang="en-IN" sz="1400" b="0" dirty="0"/>
                        <a:t>Error in Yield Estimation (4–11%)</a:t>
                      </a:r>
                      <a:endParaRPr lang="en-IN" sz="1400" b="0" dirty="0">
                        <a:latin typeface="Arial (Body)"/>
                      </a:endParaRPr>
                    </a:p>
                  </a:txBody>
                  <a:tcPr/>
                </a:tc>
                <a:extLst>
                  <a:ext uri="{0D108BD9-81ED-4DB2-BD59-A6C34878D82A}">
                    <a16:rowId xmlns:a16="http://schemas.microsoft.com/office/drawing/2014/main" val="2088211200"/>
                  </a:ext>
                </a:extLst>
              </a:tr>
            </a:tbl>
          </a:graphicData>
        </a:graphic>
      </p:graphicFrame>
    </p:spTree>
    <p:extLst>
      <p:ext uri="{BB962C8B-B14F-4D97-AF65-F5344CB8AC3E}">
        <p14:creationId xmlns:p14="http://schemas.microsoft.com/office/powerpoint/2010/main" val="38568271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BE138-BA5E-7BE5-0DC8-4A60C46E29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9888B4-2EDD-C513-CE51-6F096160AC56}"/>
              </a:ext>
            </a:extLst>
          </p:cNvPr>
          <p:cNvSpPr>
            <a:spLocks noGrp="1"/>
          </p:cNvSpPr>
          <p:nvPr>
            <p:ph type="title"/>
          </p:nvPr>
        </p:nvSpPr>
        <p:spPr>
          <a:xfrm>
            <a:off x="103832" y="40193"/>
            <a:ext cx="10515600" cy="401934"/>
          </a:xfrm>
        </p:spPr>
        <p:txBody>
          <a:bodyPr>
            <a:normAutofit fontScale="90000"/>
          </a:bodyPr>
          <a:lstStyle/>
          <a:p>
            <a:r>
              <a:rPr lang="en-IN" sz="2700" b="1" dirty="0">
                <a:latin typeface="Times New Roman" panose="02020603050405020304" pitchFamily="18" charset="0"/>
                <a:cs typeface="Times New Roman" panose="02020603050405020304" pitchFamily="18" charset="0"/>
              </a:rPr>
              <a:t>5. </a:t>
            </a:r>
            <a:r>
              <a:rPr lang="en-US" sz="2800" b="1" u="sng" dirty="0">
                <a:latin typeface="Times New Roman" panose="02020603050405020304" pitchFamily="18" charset="0"/>
                <a:cs typeface="Times New Roman" panose="02020603050405020304" pitchFamily="18" charset="0"/>
              </a:rPr>
              <a:t>Literature Survey</a:t>
            </a:r>
            <a:endParaRPr lang="en-IN" b="1" u="sng" dirty="0"/>
          </a:p>
        </p:txBody>
      </p:sp>
      <p:graphicFrame>
        <p:nvGraphicFramePr>
          <p:cNvPr id="5" name="Table 4">
            <a:extLst>
              <a:ext uri="{FF2B5EF4-FFF2-40B4-BE49-F238E27FC236}">
                <a16:creationId xmlns:a16="http://schemas.microsoft.com/office/drawing/2014/main" id="{C3434AB0-92FA-B71C-8520-C17AC0DECA07}"/>
              </a:ext>
            </a:extLst>
          </p:cNvPr>
          <p:cNvGraphicFramePr>
            <a:graphicFrameLocks noGrp="1"/>
          </p:cNvGraphicFramePr>
          <p:nvPr>
            <p:extLst>
              <p:ext uri="{D42A27DB-BD31-4B8C-83A1-F6EECF244321}">
                <p14:modId xmlns:p14="http://schemas.microsoft.com/office/powerpoint/2010/main" val="2171017686"/>
              </p:ext>
            </p:extLst>
          </p:nvPr>
        </p:nvGraphicFramePr>
        <p:xfrm>
          <a:off x="0" y="401935"/>
          <a:ext cx="12088168" cy="6391383"/>
        </p:xfrm>
        <a:graphic>
          <a:graphicData uri="http://schemas.openxmlformats.org/drawingml/2006/table">
            <a:tbl>
              <a:tblPr firstRow="1" bandRow="1">
                <a:tableStyleId>{5C22544A-7EE6-4342-B048-85BDC9FD1C3A}</a:tableStyleId>
              </a:tblPr>
              <a:tblGrid>
                <a:gridCol w="594037">
                  <a:extLst>
                    <a:ext uri="{9D8B030D-6E8A-4147-A177-3AD203B41FA5}">
                      <a16:colId xmlns:a16="http://schemas.microsoft.com/office/drawing/2014/main" val="967269731"/>
                    </a:ext>
                  </a:extLst>
                </a:gridCol>
                <a:gridCol w="2145749">
                  <a:extLst>
                    <a:ext uri="{9D8B030D-6E8A-4147-A177-3AD203B41FA5}">
                      <a16:colId xmlns:a16="http://schemas.microsoft.com/office/drawing/2014/main" val="2506205235"/>
                    </a:ext>
                  </a:extLst>
                </a:gridCol>
                <a:gridCol w="2175830">
                  <a:extLst>
                    <a:ext uri="{9D8B030D-6E8A-4147-A177-3AD203B41FA5}">
                      <a16:colId xmlns:a16="http://schemas.microsoft.com/office/drawing/2014/main" val="3986470590"/>
                    </a:ext>
                  </a:extLst>
                </a:gridCol>
                <a:gridCol w="2486663">
                  <a:extLst>
                    <a:ext uri="{9D8B030D-6E8A-4147-A177-3AD203B41FA5}">
                      <a16:colId xmlns:a16="http://schemas.microsoft.com/office/drawing/2014/main" val="2669560552"/>
                    </a:ext>
                  </a:extLst>
                </a:gridCol>
                <a:gridCol w="2336259">
                  <a:extLst>
                    <a:ext uri="{9D8B030D-6E8A-4147-A177-3AD203B41FA5}">
                      <a16:colId xmlns:a16="http://schemas.microsoft.com/office/drawing/2014/main" val="2972036299"/>
                    </a:ext>
                  </a:extLst>
                </a:gridCol>
                <a:gridCol w="2349630">
                  <a:extLst>
                    <a:ext uri="{9D8B030D-6E8A-4147-A177-3AD203B41FA5}">
                      <a16:colId xmlns:a16="http://schemas.microsoft.com/office/drawing/2014/main" val="2827618894"/>
                    </a:ext>
                  </a:extLst>
                </a:gridCol>
              </a:tblGrid>
              <a:tr h="82329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dirty="0">
                          <a:solidFill>
                            <a:schemeClr val="bg1"/>
                          </a:solidFill>
                          <a:latin typeface="+mn-lt"/>
                        </a:rPr>
                        <a:t>Sr.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dirty="0">
                          <a:solidFill>
                            <a:schemeClr val="bg1"/>
                          </a:solidFill>
                          <a:latin typeface="+mn-lt"/>
                        </a:rPr>
                        <a:t>No</a:t>
                      </a:r>
                      <a:endParaRPr lang="en-IN" sz="1400" b="0" i="0" dirty="0">
                        <a:solidFill>
                          <a:schemeClr val="bg1"/>
                        </a:solidFill>
                        <a:latin typeface="+mn-lt"/>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1400" b="0" dirty="0">
                        <a:solidFill>
                          <a:schemeClr val="bg1"/>
                        </a:solidFill>
                        <a:latin typeface="+mn-lt"/>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sz="1400" b="0" dirty="0">
                          <a:solidFill>
                            <a:schemeClr val="bg1"/>
                          </a:solidFill>
                          <a:latin typeface="+mn-lt"/>
                          <a:sym typeface="Times New Roman"/>
                        </a:rPr>
                        <a:t>Author(s) &amp; Year</a:t>
                      </a:r>
                      <a:endParaRPr lang="en-IN" sz="1400" b="0" dirty="0">
                        <a:solidFill>
                          <a:schemeClr val="bg1"/>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1400" b="0" dirty="0">
                        <a:solidFill>
                          <a:schemeClr val="bg1"/>
                        </a:solidFill>
                        <a:latin typeface="+mn-lt"/>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sz="1400" b="0" dirty="0">
                          <a:solidFill>
                            <a:schemeClr val="bg1"/>
                          </a:solidFill>
                          <a:latin typeface="+mn-lt"/>
                          <a:sym typeface="Times New Roman"/>
                        </a:rPr>
                        <a:t>Title of Paper </a:t>
                      </a:r>
                      <a:endParaRPr lang="en-IN" sz="1400" b="0" dirty="0">
                        <a:solidFill>
                          <a:schemeClr val="bg1"/>
                        </a:solidFill>
                        <a:latin typeface="+mn-lt"/>
                      </a:endParaRPr>
                    </a:p>
                  </a:txBody>
                  <a:tcPr/>
                </a:tc>
                <a:tc>
                  <a:txBody>
                    <a:bodyPr/>
                    <a:lstStyle/>
                    <a:p>
                      <a:pPr algn="l"/>
                      <a:r>
                        <a:rPr lang="en-US" sz="1400" b="0" dirty="0">
                          <a:solidFill>
                            <a:schemeClr val="bg1"/>
                          </a:solidFill>
                          <a:latin typeface="+mn-lt"/>
                        </a:rPr>
                        <a:t>Methodology</a:t>
                      </a:r>
                      <a:endParaRPr lang="en-IN" sz="1400" b="0" dirty="0">
                        <a:solidFill>
                          <a:schemeClr val="bg1"/>
                        </a:solidFill>
                        <a:latin typeface="+mn-lt"/>
                        <a:cs typeface="Times New Roman" panose="02020603050405020304" pitchFamily="18" charset="0"/>
                      </a:endParaRPr>
                    </a:p>
                  </a:txBody>
                  <a:tcPr/>
                </a:tc>
                <a:tc>
                  <a:txBody>
                    <a:bodyPr/>
                    <a:lstStyle/>
                    <a:p>
                      <a:pPr algn="l"/>
                      <a:r>
                        <a:rPr lang="en" sz="1400" b="0" dirty="0">
                          <a:solidFill>
                            <a:schemeClr val="bg1"/>
                          </a:solidFill>
                          <a:latin typeface="+mn-lt"/>
                          <a:sym typeface="Times New Roman"/>
                        </a:rPr>
                        <a:t>Key Findings</a:t>
                      </a:r>
                      <a:endParaRPr lang="en-IN" sz="1400" b="0" dirty="0">
                        <a:solidFill>
                          <a:schemeClr val="bg1"/>
                        </a:solidFill>
                        <a:latin typeface="+mn-lt"/>
                        <a:cs typeface="Times New Roman" panose="02020603050405020304" pitchFamily="18" charset="0"/>
                      </a:endParaRPr>
                    </a:p>
                  </a:txBody>
                  <a:tcPr/>
                </a:tc>
                <a:tc>
                  <a:txBody>
                    <a:bodyPr/>
                    <a:lstStyle/>
                    <a:p>
                      <a:pPr algn="l"/>
                      <a:r>
                        <a:rPr lang="en" sz="1400" b="0" dirty="0">
                          <a:solidFill>
                            <a:schemeClr val="bg1"/>
                          </a:solidFill>
                          <a:latin typeface="+mn-lt"/>
                          <a:sym typeface="Times New Roman"/>
                        </a:rPr>
                        <a:t>Limitations</a:t>
                      </a:r>
                      <a:endParaRPr lang="en-IN" sz="1400" b="0" dirty="0">
                        <a:solidFill>
                          <a:schemeClr val="bg1"/>
                        </a:solidFill>
                        <a:latin typeface="+mn-lt"/>
                      </a:endParaRPr>
                    </a:p>
                  </a:txBody>
                  <a:tcPr/>
                </a:tc>
                <a:extLst>
                  <a:ext uri="{0D108BD9-81ED-4DB2-BD59-A6C34878D82A}">
                    <a16:rowId xmlns:a16="http://schemas.microsoft.com/office/drawing/2014/main" val="3549761234"/>
                  </a:ext>
                </a:extLst>
              </a:tr>
              <a:tr h="200334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dirty="0">
                          <a:latin typeface="Arial (Body)"/>
                        </a:rPr>
                        <a:t>4</a:t>
                      </a:r>
                      <a:endParaRPr lang="en-IN" sz="1400" b="0" dirty="0">
                        <a:latin typeface="Arial (Body)"/>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b="1" dirty="0" err="1"/>
                        <a:t>Fumin</a:t>
                      </a:r>
                      <a:r>
                        <a:rPr lang="en-IN" sz="1400" b="1" dirty="0"/>
                        <a:t> Wang , Jiale Li , </a:t>
                      </a:r>
                      <a:r>
                        <a:rPr lang="en-IN" sz="1400" b="1" dirty="0" err="1"/>
                        <a:t>Dailiang</a:t>
                      </a:r>
                      <a:r>
                        <a:rPr lang="en-IN" sz="1400" b="1" dirty="0"/>
                        <a:t> Peng , </a:t>
                      </a:r>
                      <a:r>
                        <a:rPr lang="en-IN" sz="1400" b="1" dirty="0" err="1"/>
                        <a:t>Qiuxiang</a:t>
                      </a:r>
                      <a:r>
                        <a:rPr lang="en-IN" sz="1400" b="1" dirty="0"/>
                        <a:t> Yi, Xiaoyang Zhang, </a:t>
                      </a:r>
                      <a:r>
                        <a:rPr lang="en-IN" sz="1400" b="1" dirty="0" err="1"/>
                        <a:t>Jueyi</a:t>
                      </a:r>
                      <a:r>
                        <a:rPr lang="en-IN" sz="1400" b="1" dirty="0"/>
                        <a:t> Zheng, and Siting Chen </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400" b="0" dirty="0"/>
                        <a:t>July 2024</a:t>
                      </a:r>
                      <a:endParaRPr lang="en-IN" sz="1400" b="0" dirty="0">
                        <a:latin typeface="Arial (Body)"/>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1400" b="0" dirty="0">
                        <a:latin typeface="Arial (Body)"/>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Estimating Soybean Yields Using Causal Inference and Deep Learning Approaches With Satellite Remote Sensing Data</a:t>
                      </a:r>
                      <a:endParaRPr lang="en-IN" sz="1400" dirty="0">
                        <a:latin typeface="Arial (Body)"/>
                      </a:endParaRPr>
                    </a:p>
                  </a:txBody>
                  <a:tcPr/>
                </a:tc>
                <a:tc>
                  <a:txBody>
                    <a:bodyPr/>
                    <a:lstStyle/>
                    <a:p>
                      <a:r>
                        <a:rPr lang="en-US" sz="1400" dirty="0"/>
                        <a:t>Causal relationships between variables were modeled using a Structural Causal Model (SCM) integrated into a Graph Attention Network (GAT), enabling soybean yield prediction from satellite remote sensing and weather data.</a:t>
                      </a:r>
                      <a:endParaRPr lang="en-IN" sz="1400" dirty="0">
                        <a:latin typeface="Arial (Body)"/>
                      </a:endParaRPr>
                    </a:p>
                  </a:txBody>
                  <a:tcPr/>
                </a:tc>
                <a:tc>
                  <a:txBody>
                    <a:bodyPr/>
                    <a:lstStyle/>
                    <a:p>
                      <a:pPr marL="285750" indent="-285750">
                        <a:buFont typeface="Wingdings" panose="05000000000000000000" pitchFamily="2" charset="2"/>
                        <a:buChar char="§"/>
                      </a:pPr>
                      <a:r>
                        <a:rPr lang="en-IN" sz="1400" dirty="0"/>
                        <a:t>Causal Relationship Integration</a:t>
                      </a:r>
                    </a:p>
                    <a:p>
                      <a:pPr marL="285750" indent="-285750">
                        <a:buFont typeface="Wingdings" panose="05000000000000000000" pitchFamily="2" charset="2"/>
                        <a:buChar char="§"/>
                      </a:pPr>
                      <a:r>
                        <a:rPr lang="en-IN" sz="1400" b="0" dirty="0"/>
                        <a:t>Superior Performance over Baselines</a:t>
                      </a:r>
                    </a:p>
                    <a:p>
                      <a:pPr marL="285750" indent="-285750">
                        <a:buFont typeface="Wingdings" panose="05000000000000000000" pitchFamily="2" charset="2"/>
                        <a:buChar char="§"/>
                      </a:pPr>
                      <a:r>
                        <a:rPr lang="en-IN" sz="1400" dirty="0"/>
                        <a:t>Better Extreme Condition Performance</a:t>
                      </a:r>
                    </a:p>
                    <a:p>
                      <a:pPr marL="285750" indent="-285750">
                        <a:buFont typeface="Wingdings" panose="05000000000000000000" pitchFamily="2" charset="2"/>
                        <a:buChar char="§"/>
                      </a:pPr>
                      <a:r>
                        <a:rPr lang="en-US" sz="1400" b="0" dirty="0"/>
                        <a:t>Identification of Key Growth Phases</a:t>
                      </a:r>
                    </a:p>
                    <a:p>
                      <a:pPr marL="285750" indent="-285750">
                        <a:buFont typeface="Wingdings" panose="05000000000000000000" pitchFamily="2" charset="2"/>
                        <a:buChar char="§"/>
                      </a:pPr>
                      <a:r>
                        <a:rPr lang="en-IN" sz="1400" dirty="0"/>
                        <a:t>Structural Causal Model (SCM)</a:t>
                      </a:r>
                      <a:endParaRPr lang="en-IN" sz="1400" dirty="0">
                        <a:latin typeface="Arial (Body)"/>
                      </a:endParaRPr>
                    </a:p>
                  </a:txBody>
                  <a:tcPr/>
                </a:tc>
                <a:tc>
                  <a:txBody>
                    <a:bodyPr/>
                    <a:lstStyle/>
                    <a:p>
                      <a:pPr marL="285750" indent="-285750">
                        <a:buFont typeface="Wingdings" panose="05000000000000000000" pitchFamily="2" charset="2"/>
                        <a:buChar char="§"/>
                      </a:pPr>
                      <a:r>
                        <a:rPr lang="en-IN" sz="1400" b="0" dirty="0"/>
                        <a:t>High Computational Complexity</a:t>
                      </a:r>
                    </a:p>
                    <a:p>
                      <a:pPr marL="285750" indent="-285750">
                        <a:buFont typeface="Wingdings" panose="05000000000000000000" pitchFamily="2" charset="2"/>
                        <a:buChar char="§"/>
                      </a:pPr>
                      <a:r>
                        <a:rPr lang="en-US" sz="1400" b="0" dirty="0"/>
                        <a:t>Limited Generalizability to Other Crops</a:t>
                      </a:r>
                    </a:p>
                    <a:p>
                      <a:pPr marL="285750" indent="-285750">
                        <a:buFont typeface="Wingdings" panose="05000000000000000000" pitchFamily="2" charset="2"/>
                        <a:buChar char="§"/>
                      </a:pPr>
                      <a:r>
                        <a:rPr lang="en-US" sz="1400" b="0" dirty="0"/>
                        <a:t>Requires Domain Knowledge for Causal Graph</a:t>
                      </a:r>
                    </a:p>
                    <a:p>
                      <a:pPr marL="285750" indent="-285750">
                        <a:buFont typeface="Wingdings" panose="05000000000000000000" pitchFamily="2" charset="2"/>
                        <a:buChar char="§"/>
                      </a:pPr>
                      <a:r>
                        <a:rPr lang="en-IN" sz="1400" b="0" dirty="0"/>
                        <a:t>Limited to County-level Prediction</a:t>
                      </a:r>
                    </a:p>
                    <a:p>
                      <a:pPr marL="285750" indent="-285750">
                        <a:buFont typeface="Wingdings" panose="05000000000000000000" pitchFamily="2" charset="2"/>
                        <a:buChar char="§"/>
                      </a:pPr>
                      <a:r>
                        <a:rPr lang="en-IN" sz="1400" b="0" dirty="0"/>
                        <a:t>Heavy Data Dependency</a:t>
                      </a:r>
                      <a:endParaRPr lang="en-IN" sz="1400" b="0" dirty="0">
                        <a:latin typeface="Arial (Body)"/>
                      </a:endParaRPr>
                    </a:p>
                  </a:txBody>
                  <a:tcPr/>
                </a:tc>
                <a:extLst>
                  <a:ext uri="{0D108BD9-81ED-4DB2-BD59-A6C34878D82A}">
                    <a16:rowId xmlns:a16="http://schemas.microsoft.com/office/drawing/2014/main" val="3647844626"/>
                  </a:ext>
                </a:extLst>
              </a:tr>
              <a:tr h="334305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sz="1400" b="1" dirty="0">
                          <a:solidFill>
                            <a:schemeClr val="tx1">
                              <a:lumMod val="95000"/>
                              <a:lumOff val="5000"/>
                            </a:schemeClr>
                          </a:solidFill>
                          <a:latin typeface="Arial" panose="020B0604020202020204" pitchFamily="34" charset="0"/>
                          <a:cs typeface="Arial" panose="020B0604020202020204" pitchFamily="34" charset="0"/>
                          <a:sym typeface="Times New Roman"/>
                        </a:rPr>
                        <a:t>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b="1" dirty="0"/>
                        <a:t>Kathirvel Narayanasamy and Ilayaraja Venkatachalam.</a:t>
                      </a:r>
                    </a:p>
                    <a:p>
                      <a:pPr marL="0" marR="0" lvl="0" indent="0" algn="l" defTabSz="914400" rtl="0" eaLnBrk="1" fontAlgn="auto" latinLnBrk="0" hangingPunct="1">
                        <a:lnSpc>
                          <a:spcPct val="100000"/>
                        </a:lnSpc>
                        <a:spcBef>
                          <a:spcPts val="0"/>
                        </a:spcBef>
                        <a:spcAft>
                          <a:spcPts val="0"/>
                        </a:spcAft>
                        <a:buClrTx/>
                        <a:buSzTx/>
                        <a:buFontTx/>
                        <a:buNone/>
                        <a:tabLst/>
                        <a:defRPr/>
                      </a:pPr>
                      <a:r>
                        <a:rPr lang="en" sz="1400" u="none" strike="noStrike" cap="none" dirty="0">
                          <a:solidFill>
                            <a:schemeClr val="tx1">
                              <a:lumMod val="95000"/>
                              <a:lumOff val="5000"/>
                            </a:schemeClr>
                          </a:solidFill>
                          <a:sym typeface="Times New Roman"/>
                        </a:rPr>
                        <a:t>June 202</a:t>
                      </a:r>
                      <a:r>
                        <a:rPr lang="en" sz="1400" dirty="0">
                          <a:solidFill>
                            <a:schemeClr val="tx1">
                              <a:lumMod val="95000"/>
                              <a:lumOff val="5000"/>
                            </a:schemeClr>
                          </a:solidFill>
                          <a:sym typeface="Times New Roman"/>
                        </a:rPr>
                        <a:t>5</a:t>
                      </a:r>
                      <a:endParaRPr lang="en" sz="1400" b="1" dirty="0">
                        <a:solidFill>
                          <a:schemeClr val="tx1">
                            <a:lumMod val="95000"/>
                            <a:lumOff val="5000"/>
                          </a:schemeClr>
                        </a:solidFill>
                        <a:latin typeface="Arial" panose="020B0604020202020204" pitchFamily="34" charset="0"/>
                        <a:cs typeface="Arial" panose="020B0604020202020204" pitchFamily="34" charset="0"/>
                        <a:sym typeface="Times New Roman"/>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 sz="1400" b="1" dirty="0">
                        <a:solidFill>
                          <a:schemeClr val="tx1">
                            <a:lumMod val="95000"/>
                            <a:lumOff val="5000"/>
                          </a:schemeClr>
                        </a:solidFill>
                        <a:latin typeface="Arial" panose="020B0604020202020204" pitchFamily="34" charset="0"/>
                        <a:cs typeface="Arial" panose="020B0604020202020204" pitchFamily="34" charset="0"/>
                        <a:sym typeface="Times New Roman"/>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Predicting Sugar Yield From Sugarcane Using Machine Learning for Jaggery Production.</a:t>
                      </a:r>
                      <a:endParaRPr lang="en-US" sz="1400" dirty="0">
                        <a:latin typeface="Arial (Body)"/>
                      </a:endParaRPr>
                    </a:p>
                  </a:txBody>
                  <a:tcPr/>
                </a:tc>
                <a:tc>
                  <a:txBody>
                    <a:bodyPr/>
                    <a:lstStyle/>
                    <a:p>
                      <a:r>
                        <a:rPr lang="en-US" sz="1400" dirty="0"/>
                        <a:t>Random Forest and other regression models were trained on a dataset of sugarcane physicochemical properties and environmental factors, using SHAP and Lasso for feature interpretation and hyperparameter tuning for optimal performance.</a:t>
                      </a:r>
                      <a:endParaRPr lang="en-IN" sz="1400" dirty="0">
                        <a:latin typeface="Arial (Body)"/>
                      </a:endParaRPr>
                    </a:p>
                  </a:txBody>
                  <a:tcPr/>
                </a:tc>
                <a:tc>
                  <a:txBody>
                    <a:bodyPr/>
                    <a:lstStyle/>
                    <a:p>
                      <a:pPr marL="285750" indent="-285750">
                        <a:buFont typeface="Wingdings" panose="05000000000000000000" pitchFamily="2" charset="2"/>
                        <a:buChar char="§"/>
                      </a:pPr>
                      <a:r>
                        <a:rPr lang="en-US" sz="1400" b="0" dirty="0"/>
                        <a:t>High Predictive Accuracy (R² = 0.9503)</a:t>
                      </a:r>
                    </a:p>
                    <a:p>
                      <a:pPr marL="285750" indent="-285750">
                        <a:buFont typeface="Wingdings" panose="05000000000000000000" pitchFamily="2" charset="2"/>
                        <a:buChar char="§"/>
                      </a:pPr>
                      <a:r>
                        <a:rPr lang="en-US" sz="1400" b="0" dirty="0"/>
                        <a:t> Direct Sugar Yield Prediction (kg/ton)</a:t>
                      </a:r>
                    </a:p>
                    <a:p>
                      <a:pPr marL="285750" indent="-285750">
                        <a:buFont typeface="Wingdings" panose="05000000000000000000" pitchFamily="2" charset="2"/>
                        <a:buChar char="§"/>
                      </a:pPr>
                      <a:r>
                        <a:rPr lang="en-US" sz="1400" b="0" dirty="0"/>
                        <a:t>Interpretable Model with SHAP and Lasso</a:t>
                      </a:r>
                    </a:p>
                    <a:p>
                      <a:pPr marL="285750" indent="-285750">
                        <a:buFont typeface="Wingdings" panose="05000000000000000000" pitchFamily="2" charset="2"/>
                        <a:buChar char="§"/>
                      </a:pPr>
                      <a:r>
                        <a:rPr lang="en-US" sz="1400" b="0" dirty="0"/>
                        <a:t>Robust Dataset from Real-World Sources</a:t>
                      </a:r>
                    </a:p>
                    <a:p>
                      <a:pPr marL="285750" indent="-285750">
                        <a:buFont typeface="Wingdings" panose="05000000000000000000" pitchFamily="2" charset="2"/>
                        <a:buChar char="§"/>
                      </a:pPr>
                      <a:r>
                        <a:rPr lang="en-US" sz="1400" b="0" dirty="0"/>
                        <a:t>Practical Implications for Jaggery Industry</a:t>
                      </a:r>
                      <a:endParaRPr lang="en-IN" sz="1400" b="0" dirty="0">
                        <a:latin typeface="Arial (Body)"/>
                      </a:endParaRPr>
                    </a:p>
                  </a:txBody>
                  <a:tcPr/>
                </a:tc>
                <a:tc>
                  <a:txBody>
                    <a:bodyPr/>
                    <a:lstStyle/>
                    <a:p>
                      <a:pPr marL="285750" indent="-285750" algn="l">
                        <a:buFont typeface="Wingdings" panose="05000000000000000000" pitchFamily="2" charset="2"/>
                        <a:buChar char="§"/>
                      </a:pPr>
                      <a:r>
                        <a:rPr lang="en-US" sz="1400" b="0" dirty="0"/>
                        <a:t>Reduced Accuracy at High Yield Values (&gt;120 kg/ton)</a:t>
                      </a:r>
                    </a:p>
                    <a:p>
                      <a:pPr marL="285750" indent="-285750" algn="l">
                        <a:buFont typeface="Wingdings" panose="05000000000000000000" pitchFamily="2" charset="2"/>
                        <a:buChar char="§"/>
                      </a:pPr>
                      <a:r>
                        <a:rPr lang="en-IN" sz="1400" b="0" dirty="0"/>
                        <a:t>Limited Geographic Generalizability</a:t>
                      </a:r>
                    </a:p>
                    <a:p>
                      <a:pPr marL="285750" indent="-285750" algn="l">
                        <a:buFont typeface="Wingdings" panose="05000000000000000000" pitchFamily="2" charset="2"/>
                        <a:buChar char="§"/>
                      </a:pPr>
                      <a:r>
                        <a:rPr lang="en-IN" sz="1400" b="0" dirty="0"/>
                        <a:t>Minimal Contribution of Environmental Factors (&lt;5%)</a:t>
                      </a:r>
                    </a:p>
                    <a:p>
                      <a:pPr marL="285750" indent="-285750" algn="l">
                        <a:buFont typeface="Wingdings" panose="05000000000000000000" pitchFamily="2" charset="2"/>
                        <a:buChar char="§"/>
                      </a:pPr>
                      <a:r>
                        <a:rPr lang="en-IN" sz="1400" b="0" dirty="0"/>
                        <a:t>No Real-Time Deployment Yet</a:t>
                      </a:r>
                    </a:p>
                    <a:p>
                      <a:pPr marL="285750" indent="-285750" algn="l">
                        <a:buFont typeface="Wingdings" panose="05000000000000000000" pitchFamily="2" charset="2"/>
                        <a:buChar char="§"/>
                      </a:pPr>
                      <a:r>
                        <a:rPr lang="en-US" sz="1400" b="0" dirty="0"/>
                        <a:t>Limited to Sugar Yield Prediction Only</a:t>
                      </a:r>
                      <a:endParaRPr lang="en-IN" sz="1400" b="0" dirty="0">
                        <a:latin typeface="Arial (Body)"/>
                      </a:endParaRPr>
                    </a:p>
                  </a:txBody>
                  <a:tcPr/>
                </a:tc>
                <a:extLst>
                  <a:ext uri="{0D108BD9-81ED-4DB2-BD59-A6C34878D82A}">
                    <a16:rowId xmlns:a16="http://schemas.microsoft.com/office/drawing/2014/main" val="576481222"/>
                  </a:ext>
                </a:extLst>
              </a:tr>
            </a:tbl>
          </a:graphicData>
        </a:graphic>
      </p:graphicFrame>
    </p:spTree>
    <p:extLst>
      <p:ext uri="{BB962C8B-B14F-4D97-AF65-F5344CB8AC3E}">
        <p14:creationId xmlns:p14="http://schemas.microsoft.com/office/powerpoint/2010/main" val="31608565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9A4EEB-AF04-9529-62A3-D267873B168E}"/>
              </a:ext>
            </a:extLst>
          </p:cNvPr>
          <p:cNvSpPr>
            <a:spLocks noGrp="1"/>
          </p:cNvSpPr>
          <p:nvPr>
            <p:ph type="ctrTitle"/>
          </p:nvPr>
        </p:nvSpPr>
        <p:spPr>
          <a:xfrm>
            <a:off x="217715" y="0"/>
            <a:ext cx="9144000" cy="495458"/>
          </a:xfrm>
        </p:spPr>
        <p:txBody>
          <a:bodyPr>
            <a:normAutofit/>
          </a:bodyPr>
          <a:lstStyle/>
          <a:p>
            <a:pPr algn="l"/>
            <a:r>
              <a:rPr lang="en-IN" sz="2800" b="1" dirty="0">
                <a:latin typeface="Times New Roman" panose="02020603050405020304" pitchFamily="18" charset="0"/>
                <a:cs typeface="Times New Roman" panose="02020603050405020304" pitchFamily="18" charset="0"/>
              </a:rPr>
              <a:t>6. </a:t>
            </a:r>
            <a:r>
              <a:rPr lang="en-IN" sz="2800" b="1" u="sng" dirty="0">
                <a:latin typeface="Times New Roman" panose="02020603050405020304" pitchFamily="18" charset="0"/>
                <a:cs typeface="Times New Roman" panose="02020603050405020304" pitchFamily="18" charset="0"/>
              </a:rPr>
              <a:t>Software/Hardware required</a:t>
            </a:r>
          </a:p>
        </p:txBody>
      </p:sp>
      <p:sp>
        <p:nvSpPr>
          <p:cNvPr id="3" name="Subtitle 2">
            <a:extLst>
              <a:ext uri="{FF2B5EF4-FFF2-40B4-BE49-F238E27FC236}">
                <a16:creationId xmlns:a16="http://schemas.microsoft.com/office/drawing/2014/main" id="{7804DDF0-CAC9-3A94-01EC-828548181FBB}"/>
              </a:ext>
            </a:extLst>
          </p:cNvPr>
          <p:cNvSpPr>
            <a:spLocks noGrp="1"/>
          </p:cNvSpPr>
          <p:nvPr>
            <p:ph type="subTitle" idx="1"/>
          </p:nvPr>
        </p:nvSpPr>
        <p:spPr>
          <a:xfrm>
            <a:off x="217715" y="592852"/>
            <a:ext cx="11709678" cy="6149591"/>
          </a:xfrm>
        </p:spPr>
        <p:txBody>
          <a:bodyPr>
            <a:normAutofit/>
          </a:bodyPr>
          <a:lstStyle/>
          <a:p>
            <a:pPr marL="285750" indent="-285750" algn="l">
              <a:buFont typeface="Wingdings" panose="05000000000000000000" pitchFamily="2" charset="2"/>
              <a:buChar char="§"/>
            </a:pPr>
            <a:r>
              <a:rPr lang="en-IN" sz="2000" dirty="0"/>
              <a:t>💻</a:t>
            </a:r>
            <a:r>
              <a:rPr lang="en-IN" sz="2000" b="1" u="sng" dirty="0">
                <a:latin typeface="Times New Roman" panose="02020603050405020304" pitchFamily="18" charset="0"/>
                <a:cs typeface="Times New Roman" panose="02020603050405020304" pitchFamily="18" charset="0"/>
              </a:rPr>
              <a:t>Software Requirements:-</a:t>
            </a:r>
          </a:p>
          <a:p>
            <a:pPr marL="285750" indent="-285750" algn="l">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OS:</a:t>
            </a:r>
            <a:r>
              <a:rPr lang="en-IN" sz="1800" dirty="0">
                <a:latin typeface="Times New Roman" panose="02020603050405020304" pitchFamily="18" charset="0"/>
                <a:cs typeface="Times New Roman" panose="02020603050405020304" pitchFamily="18" charset="0"/>
              </a:rPr>
              <a:t> Windows 10 / 11 or Ubuntu 20.04+</a:t>
            </a:r>
          </a:p>
          <a:p>
            <a:pPr marL="285750" indent="-285750" algn="l">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Frontend:</a:t>
            </a:r>
            <a:r>
              <a:rPr lang="en-IN" sz="1800" dirty="0">
                <a:latin typeface="Times New Roman" panose="02020603050405020304" pitchFamily="18" charset="0"/>
                <a:cs typeface="Times New Roman" panose="02020603050405020304" pitchFamily="18" charset="0"/>
              </a:rPr>
              <a:t> HTML5, CSS3, JavaScript</a:t>
            </a:r>
          </a:p>
          <a:p>
            <a:pPr marL="285750" indent="-285750" algn="l">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Backend: </a:t>
            </a:r>
            <a:r>
              <a:rPr lang="en-IN" sz="1800" dirty="0">
                <a:latin typeface="Times New Roman" panose="02020603050405020304" pitchFamily="18" charset="0"/>
                <a:cs typeface="Times New Roman" panose="02020603050405020304" pitchFamily="18" charset="0"/>
              </a:rPr>
              <a:t>Python 3.8(Flask, Django, etc)</a:t>
            </a:r>
            <a:endParaRPr lang="en-IN" sz="1800" b="1" dirty="0">
              <a:latin typeface="Times New Roman" panose="02020603050405020304" pitchFamily="18" charset="0"/>
              <a:cs typeface="Times New Roman" panose="02020603050405020304" pitchFamily="18" charset="0"/>
            </a:endParaRPr>
          </a:p>
          <a:p>
            <a:pPr marL="285750" indent="-285750" algn="l">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Chart Library:</a:t>
            </a:r>
            <a:r>
              <a:rPr lang="en-IN" sz="1800" dirty="0">
                <a:latin typeface="Times New Roman" panose="02020603050405020304" pitchFamily="18" charset="0"/>
                <a:cs typeface="Times New Roman" panose="02020603050405020304" pitchFamily="18" charset="0"/>
              </a:rPr>
              <a:t> Chart.js (for yield visualization)</a:t>
            </a:r>
          </a:p>
          <a:p>
            <a:pPr marL="285750" indent="-285750" algn="l">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IDE/Editor:</a:t>
            </a:r>
            <a:r>
              <a:rPr lang="en-IN" sz="1800" dirty="0">
                <a:latin typeface="Times New Roman" panose="02020603050405020304" pitchFamily="18" charset="0"/>
                <a:cs typeface="Times New Roman" panose="02020603050405020304" pitchFamily="18" charset="0"/>
              </a:rPr>
              <a:t> VS Code or Sublime Text</a:t>
            </a:r>
          </a:p>
          <a:p>
            <a:pPr marL="285750" indent="-285750" algn="l">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Browser:</a:t>
            </a:r>
            <a:r>
              <a:rPr lang="en-IN" sz="1800" dirty="0">
                <a:latin typeface="Times New Roman" panose="02020603050405020304" pitchFamily="18" charset="0"/>
                <a:cs typeface="Times New Roman" panose="02020603050405020304" pitchFamily="18" charset="0"/>
              </a:rPr>
              <a:t> Chrome / Edge (latest version)</a:t>
            </a:r>
          </a:p>
          <a:p>
            <a:pPr algn="l"/>
            <a:endParaRPr lang="en-IN" sz="1800" dirty="0">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
            </a:pPr>
            <a:r>
              <a:rPr lang="en-IN" sz="2000" b="1" dirty="0">
                <a:latin typeface="Times New Roman" panose="02020603050405020304" pitchFamily="18" charset="0"/>
                <a:cs typeface="Times New Roman" panose="02020603050405020304" pitchFamily="18" charset="0"/>
              </a:rPr>
              <a:t>🖥️</a:t>
            </a:r>
            <a:r>
              <a:rPr lang="en-IN" sz="2000" b="1" u="sng" dirty="0">
                <a:latin typeface="Times New Roman" panose="02020603050405020304" pitchFamily="18" charset="0"/>
                <a:cs typeface="Times New Roman" panose="02020603050405020304" pitchFamily="18" charset="0"/>
              </a:rPr>
              <a:t>Hardware Requirements:-</a:t>
            </a:r>
          </a:p>
          <a:p>
            <a:pPr marL="285750" indent="-285750" algn="l">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Processor:</a:t>
            </a:r>
            <a:r>
              <a:rPr lang="en-IN" sz="1800" dirty="0">
                <a:latin typeface="Times New Roman" panose="02020603050405020304" pitchFamily="18" charset="0"/>
                <a:cs typeface="Times New Roman" panose="02020603050405020304" pitchFamily="18" charset="0"/>
              </a:rPr>
              <a:t> Intel i3 (7th Gen) or higher</a:t>
            </a:r>
          </a:p>
          <a:p>
            <a:pPr marL="285750" indent="-285750" algn="l">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RAM:</a:t>
            </a:r>
            <a:r>
              <a:rPr lang="en-IN" sz="1800" dirty="0">
                <a:latin typeface="Times New Roman" panose="02020603050405020304" pitchFamily="18" charset="0"/>
                <a:cs typeface="Times New Roman" panose="02020603050405020304" pitchFamily="18" charset="0"/>
              </a:rPr>
              <a:t> Minimum 4 GB (8 GB recommended)</a:t>
            </a:r>
          </a:p>
          <a:p>
            <a:pPr marL="285750" indent="-285750" algn="l">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Storage:</a:t>
            </a:r>
            <a:r>
              <a:rPr lang="en-IN" sz="1800" dirty="0">
                <a:latin typeface="Times New Roman" panose="02020603050405020304" pitchFamily="18" charset="0"/>
                <a:cs typeface="Times New Roman" panose="02020603050405020304" pitchFamily="18" charset="0"/>
              </a:rPr>
              <a:t> 10 GB free disk space (SSD preferred)</a:t>
            </a:r>
          </a:p>
          <a:p>
            <a:pPr marL="285750" indent="-285750" algn="l">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Display:</a:t>
            </a:r>
            <a:r>
              <a:rPr lang="en-IN" sz="1800" dirty="0">
                <a:latin typeface="Times New Roman" panose="02020603050405020304" pitchFamily="18" charset="0"/>
                <a:cs typeface="Times New Roman" panose="02020603050405020304" pitchFamily="18" charset="0"/>
              </a:rPr>
              <a:t> 1366×768 </a:t>
            </a:r>
            <a:r>
              <a:rPr lang="en-IN" sz="1800" dirty="0" err="1">
                <a:latin typeface="Times New Roman" panose="02020603050405020304" pitchFamily="18" charset="0"/>
                <a:cs typeface="Times New Roman" panose="02020603050405020304" pitchFamily="18" charset="0"/>
              </a:rPr>
              <a:t>px</a:t>
            </a:r>
            <a:r>
              <a:rPr lang="en-IN" sz="1800" dirty="0">
                <a:latin typeface="Times New Roman" panose="02020603050405020304" pitchFamily="18" charset="0"/>
                <a:cs typeface="Times New Roman" panose="02020603050405020304" pitchFamily="18" charset="0"/>
              </a:rPr>
              <a:t> or higher resolution</a:t>
            </a:r>
          </a:p>
          <a:p>
            <a:pPr marL="285750" indent="-285750" algn="l">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GPU (Optional):</a:t>
            </a:r>
            <a:r>
              <a:rPr lang="en-IN" sz="1800" dirty="0">
                <a:latin typeface="Times New Roman" panose="02020603050405020304" pitchFamily="18" charset="0"/>
                <a:cs typeface="Times New Roman" panose="02020603050405020304" pitchFamily="18" charset="0"/>
              </a:rPr>
              <a:t> NVIDIA GTX 1050 Ti + (for ML model training)</a:t>
            </a:r>
          </a:p>
          <a:p>
            <a:pPr algn="l"/>
            <a:endParaRPr lang="en-IN" sz="1800" dirty="0">
              <a:latin typeface="Times New Roman" panose="02020603050405020304" pitchFamily="18" charset="0"/>
              <a:cs typeface="Times New Roman" panose="02020603050405020304" pitchFamily="18" charset="0"/>
            </a:endParaRPr>
          </a:p>
          <a:p>
            <a:pPr algn="l"/>
            <a:endParaRPr lang="en-IN" sz="1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034232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962A31-B3E2-202C-E03E-54B553E975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52A78B-FBB0-9DB8-D1F0-F1C949FA574B}"/>
              </a:ext>
            </a:extLst>
          </p:cNvPr>
          <p:cNvSpPr>
            <a:spLocks noGrp="1"/>
          </p:cNvSpPr>
          <p:nvPr>
            <p:ph type="ctrTitle"/>
          </p:nvPr>
        </p:nvSpPr>
        <p:spPr>
          <a:xfrm>
            <a:off x="278004" y="107480"/>
            <a:ext cx="9144000" cy="435129"/>
          </a:xfrm>
        </p:spPr>
        <p:txBody>
          <a:bodyPr>
            <a:noAutofit/>
          </a:bodyPr>
          <a:lstStyle/>
          <a:p>
            <a:pPr algn="l"/>
            <a:r>
              <a:rPr lang="en-US" sz="2800" b="1" dirty="0">
                <a:latin typeface="Times New Roman" panose="02020603050405020304" pitchFamily="18" charset="0"/>
                <a:cs typeface="Times New Roman" panose="02020603050405020304" pitchFamily="18" charset="0"/>
              </a:rPr>
              <a:t>7. </a:t>
            </a:r>
            <a:r>
              <a:rPr lang="en-US" sz="2800" b="1" u="sng" dirty="0">
                <a:latin typeface="Times New Roman" panose="02020603050405020304" pitchFamily="18" charset="0"/>
                <a:cs typeface="Times New Roman" panose="02020603050405020304" pitchFamily="18" charset="0"/>
              </a:rPr>
              <a:t>Proposed System Architecture &amp; Algorithm</a:t>
            </a:r>
            <a:endParaRPr lang="en-IN" sz="2800" dirty="0"/>
          </a:p>
        </p:txBody>
      </p:sp>
      <p:sp>
        <p:nvSpPr>
          <p:cNvPr id="3" name="Subtitle 2">
            <a:extLst>
              <a:ext uri="{FF2B5EF4-FFF2-40B4-BE49-F238E27FC236}">
                <a16:creationId xmlns:a16="http://schemas.microsoft.com/office/drawing/2014/main" id="{79F3AB4C-0C6D-C66A-C404-7D594E87532C}"/>
              </a:ext>
            </a:extLst>
          </p:cNvPr>
          <p:cNvSpPr>
            <a:spLocks noGrp="1"/>
          </p:cNvSpPr>
          <p:nvPr>
            <p:ph type="subTitle" idx="1"/>
          </p:nvPr>
        </p:nvSpPr>
        <p:spPr>
          <a:xfrm>
            <a:off x="190917" y="673238"/>
            <a:ext cx="12001083" cy="5988819"/>
          </a:xfrm>
        </p:spPr>
        <p:txBody>
          <a:bodyPr>
            <a:normAutofit/>
          </a:bodyPr>
          <a:lstStyle/>
          <a:p>
            <a:pPr algn="l"/>
            <a:r>
              <a:rPr lang="en-US" sz="1800" b="1" u="sng" dirty="0"/>
              <a:t>Step 1: Data Acquisition:-</a:t>
            </a:r>
          </a:p>
          <a:p>
            <a:pPr algn="l"/>
            <a:r>
              <a:rPr lang="en-US" sz="1800" dirty="0"/>
              <a:t>User uploads relevant crop and environmental data (e.g., soil type, rainfall, temperature, fertilizer usage, and crop images) through the frontend interface.</a:t>
            </a:r>
            <a:br>
              <a:rPr lang="en-US" sz="1800" dirty="0"/>
            </a:br>
            <a:r>
              <a:rPr lang="en-US" sz="1800" dirty="0"/>
              <a:t>The system sends this input to the backend server for processing.</a:t>
            </a:r>
          </a:p>
          <a:p>
            <a:pPr algn="l"/>
            <a:r>
              <a:rPr lang="en-US" sz="1800" b="1" u="sng" dirty="0"/>
              <a:t>Step 2: Data Preprocessing:-</a:t>
            </a:r>
          </a:p>
          <a:p>
            <a:pPr algn="l"/>
            <a:r>
              <a:rPr lang="en-US" sz="1800" dirty="0"/>
              <a:t>Collected data is cleaned, normalized, and formatted.</a:t>
            </a:r>
          </a:p>
          <a:p>
            <a:pPr marL="285750" indent="-285750" algn="l">
              <a:buFont typeface="Arial" panose="020B0604020202020204" pitchFamily="34" charset="0"/>
              <a:buChar char="•"/>
            </a:pPr>
            <a:r>
              <a:rPr lang="en-US" sz="1800" dirty="0"/>
              <a:t>Handle missing or inconsistent values.</a:t>
            </a:r>
          </a:p>
          <a:p>
            <a:pPr marL="285750" indent="-285750" algn="l">
              <a:buFont typeface="Arial" panose="020B0604020202020204" pitchFamily="34" charset="0"/>
              <a:buChar char="•"/>
            </a:pPr>
            <a:r>
              <a:rPr lang="en-US" sz="1800" dirty="0"/>
              <a:t>Resize and enhance crop images if used.</a:t>
            </a:r>
          </a:p>
          <a:p>
            <a:pPr marL="285750" indent="-285750" algn="l">
              <a:buFont typeface="Arial" panose="020B0604020202020204" pitchFamily="34" charset="0"/>
              <a:buChar char="•"/>
            </a:pPr>
            <a:r>
              <a:rPr lang="en-US" sz="1800" dirty="0"/>
              <a:t>Convert categorical and numerical features into model-compatible formats.</a:t>
            </a:r>
          </a:p>
          <a:p>
            <a:pPr algn="l"/>
            <a:r>
              <a:rPr lang="en-US" sz="1800" b="1" u="sng" dirty="0"/>
              <a:t>Step 3: Feature Extraction:-</a:t>
            </a:r>
          </a:p>
          <a:p>
            <a:pPr algn="l"/>
            <a:r>
              <a:rPr lang="en-US" sz="1800" dirty="0"/>
              <a:t>Extract key parameters that influence yield, such as:</a:t>
            </a:r>
          </a:p>
          <a:p>
            <a:pPr marL="285750" indent="-285750" algn="l">
              <a:buFont typeface="Arial" panose="020B0604020202020204" pitchFamily="34" charset="0"/>
              <a:buChar char="•"/>
            </a:pPr>
            <a:r>
              <a:rPr lang="en-US" sz="1800" dirty="0"/>
              <a:t>Crop health indices (NDVI, leaf area, color, etc.)</a:t>
            </a:r>
          </a:p>
          <a:p>
            <a:pPr marL="285750" indent="-285750" algn="l">
              <a:buFont typeface="Arial" panose="020B0604020202020204" pitchFamily="34" charset="0"/>
              <a:buChar char="•"/>
            </a:pPr>
            <a:r>
              <a:rPr lang="en-US" sz="1800" dirty="0"/>
              <a:t>Environmental factors (rainfall, temperature, humidity)</a:t>
            </a:r>
          </a:p>
          <a:p>
            <a:pPr marL="285750" indent="-285750" algn="l">
              <a:buFont typeface="Arial" panose="020B0604020202020204" pitchFamily="34" charset="0"/>
              <a:buChar char="•"/>
            </a:pPr>
            <a:r>
              <a:rPr lang="en-US" sz="1800" dirty="0"/>
              <a:t>Soil properties (moisture, nutrients, pH)</a:t>
            </a:r>
            <a:br>
              <a:rPr lang="en-US" sz="1800" dirty="0"/>
            </a:br>
            <a:r>
              <a:rPr lang="en-US" sz="1800" dirty="0"/>
              <a:t>These features are then passed to the model for analysis.</a:t>
            </a:r>
          </a:p>
          <a:p>
            <a:pPr algn="l"/>
            <a:endParaRPr lang="en-IN" sz="1300" dirty="0"/>
          </a:p>
          <a:p>
            <a:pPr algn="l"/>
            <a:endParaRPr lang="en-US" sz="1300" dirty="0"/>
          </a:p>
          <a:p>
            <a:pPr algn="l"/>
            <a:endParaRPr lang="en-US" sz="1400" dirty="0"/>
          </a:p>
          <a:p>
            <a:pPr algn="l"/>
            <a:endParaRPr lang="en-IN" sz="1300" dirty="0"/>
          </a:p>
        </p:txBody>
      </p:sp>
    </p:spTree>
    <p:extLst>
      <p:ext uri="{BB962C8B-B14F-4D97-AF65-F5344CB8AC3E}">
        <p14:creationId xmlns:p14="http://schemas.microsoft.com/office/powerpoint/2010/main" val="29365072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E7F428-3652-12A7-1C77-B88E820F8732}"/>
              </a:ext>
            </a:extLst>
          </p:cNvPr>
          <p:cNvSpPr>
            <a:spLocks noGrp="1"/>
          </p:cNvSpPr>
          <p:nvPr>
            <p:ph type="ctrTitle"/>
          </p:nvPr>
        </p:nvSpPr>
        <p:spPr>
          <a:xfrm>
            <a:off x="241160" y="8376"/>
            <a:ext cx="9144000" cy="563544"/>
          </a:xfrm>
        </p:spPr>
        <p:txBody>
          <a:bodyPr>
            <a:normAutofit/>
          </a:bodyPr>
          <a:lstStyle/>
          <a:p>
            <a:pPr algn="l"/>
            <a:r>
              <a:rPr lang="en-US" sz="2800" b="1" dirty="0">
                <a:latin typeface="Times New Roman" panose="02020603050405020304" pitchFamily="18" charset="0"/>
                <a:cs typeface="Times New Roman" panose="02020603050405020304" pitchFamily="18" charset="0"/>
              </a:rPr>
              <a:t>7. </a:t>
            </a:r>
            <a:r>
              <a:rPr lang="en-US" sz="2800" b="1" u="sng" dirty="0">
                <a:latin typeface="Times New Roman" panose="02020603050405020304" pitchFamily="18" charset="0"/>
                <a:cs typeface="Times New Roman" panose="02020603050405020304" pitchFamily="18" charset="0"/>
              </a:rPr>
              <a:t>Proposed System Architecture &amp; Algorithm</a:t>
            </a:r>
            <a:endParaRPr lang="en-IN" sz="2800" u="sng"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Subtitle 2">
                <a:extLst>
                  <a:ext uri="{FF2B5EF4-FFF2-40B4-BE49-F238E27FC236}">
                    <a16:creationId xmlns:a16="http://schemas.microsoft.com/office/drawing/2014/main" id="{D0C97C49-0716-1342-78E3-AE763FD948D6}"/>
                  </a:ext>
                </a:extLst>
              </p:cNvPr>
              <p:cNvSpPr>
                <a:spLocks noGrp="1"/>
              </p:cNvSpPr>
              <p:nvPr>
                <p:ph type="subTitle" idx="1"/>
              </p:nvPr>
            </p:nvSpPr>
            <p:spPr>
              <a:xfrm>
                <a:off x="160774" y="945381"/>
                <a:ext cx="11435024" cy="5555903"/>
              </a:xfrm>
            </p:spPr>
            <p:txBody>
              <a:bodyPr>
                <a:normAutofit/>
              </a:bodyPr>
              <a:lstStyle/>
              <a:p>
                <a:pPr algn="l"/>
                <a:r>
                  <a:rPr lang="en-US" sz="1800" b="1" u="sng" dirty="0"/>
                  <a:t>Step 4: Model Prediction:-</a:t>
                </a:r>
              </a:p>
              <a:p>
                <a:pPr marL="285750" indent="-285750" algn="l">
                  <a:buFont typeface="Arial" panose="020B0604020202020204" pitchFamily="34" charset="0"/>
                  <a:buChar char="•"/>
                </a:pPr>
                <a:r>
                  <a:rPr lang="en-US" sz="1800" dirty="0"/>
                  <a:t>A trained regression model (e.g., </a:t>
                </a:r>
                <a:r>
                  <a:rPr lang="en-US" sz="1800" b="1" dirty="0"/>
                  <a:t>Random Forest Regressor</a:t>
                </a:r>
                <a:r>
                  <a:rPr lang="en-US" sz="1800" dirty="0"/>
                  <a:t>, </a:t>
                </a:r>
                <a:r>
                  <a:rPr lang="en-US" sz="1800" b="1" dirty="0" err="1"/>
                  <a:t>XGBoost</a:t>
                </a:r>
                <a:r>
                  <a:rPr lang="en-US" sz="1800" dirty="0"/>
                  <a:t>, or </a:t>
                </a:r>
                <a:r>
                  <a:rPr lang="en-US" sz="1800" b="1" dirty="0"/>
                  <a:t>ANN</a:t>
                </a:r>
                <a:r>
                  <a:rPr lang="en-US" sz="1800" dirty="0"/>
                  <a:t>) estimates the </a:t>
                </a:r>
                <a:r>
                  <a:rPr lang="en-US" sz="1800" b="1" dirty="0"/>
                  <a:t>expected yield</a:t>
                </a:r>
                <a:r>
                  <a:rPr lang="en-US" sz="1800" dirty="0"/>
                  <a:t> based on extracted features and historical data.</a:t>
                </a:r>
                <a:br>
                  <a:rPr lang="en-US" sz="1800" dirty="0"/>
                </a:br>
                <a:r>
                  <a:rPr lang="en-US" sz="1800" dirty="0"/>
                  <a:t>If an image-based model (like CNN or </a:t>
                </a:r>
                <a:r>
                  <a:rPr lang="en-US" sz="1800" dirty="0" err="1"/>
                  <a:t>EfficientNet</a:t>
                </a:r>
                <a:r>
                  <a:rPr lang="en-US" sz="1800" dirty="0"/>
                  <a:t>) is integrated, it contributes visual yield-related features.</a:t>
                </a:r>
                <a:endParaRPr lang="en-IN" sz="1800" b="1" u="sng" dirty="0"/>
              </a:p>
              <a:p>
                <a:pPr algn="l"/>
                <a:r>
                  <a:rPr lang="en-IN" sz="1800" b="1" u="sng" dirty="0"/>
                  <a:t>Step 5: Yield Loss Estimation:-</a:t>
                </a:r>
              </a:p>
              <a:p>
                <a:pPr algn="l"/>
                <a:r>
                  <a:rPr lang="en-IN" sz="1800" dirty="0"/>
                  <a:t>The predicted yield is compared with the </a:t>
                </a:r>
                <a:r>
                  <a:rPr lang="en-IN" sz="1800" b="1" dirty="0"/>
                  <a:t>expected optimal yield</a:t>
                </a:r>
                <a:r>
                  <a:rPr lang="en-IN" sz="1800" dirty="0"/>
                  <a:t> for the same crop and region.</a:t>
                </a:r>
              </a:p>
              <a:p>
                <a:pPr algn="l"/>
                <a:endParaRPr lang="en-IN" sz="1800" dirty="0"/>
              </a:p>
              <a:p>
                <a:pPr algn="l"/>
                <a14:m>
                  <m:oMathPara xmlns:m="http://schemas.openxmlformats.org/officeDocument/2006/math">
                    <m:oMathParaPr>
                      <m:jc m:val="centerGroup"/>
                    </m:oMathParaPr>
                    <m:oMath xmlns:m="http://schemas.openxmlformats.org/officeDocument/2006/math">
                      <m:r>
                        <m:rPr>
                          <m:nor/>
                        </m:rPr>
                        <a:rPr lang="en-IN" sz="1800"/>
                        <m:t>Yield</m:t>
                      </m:r>
                      <m:r>
                        <m:rPr>
                          <m:nor/>
                        </m:rPr>
                        <a:rPr lang="en-IN" sz="1800" i="1"/>
                        <m:t> </m:t>
                      </m:r>
                      <m:r>
                        <m:rPr>
                          <m:nor/>
                        </m:rPr>
                        <a:rPr lang="en-IN" sz="1800" i="1"/>
                        <m:t>Loss</m:t>
                      </m:r>
                      <m:r>
                        <m:rPr>
                          <m:nor/>
                        </m:rPr>
                        <a:rPr lang="en-IN" sz="1800" i="1"/>
                        <m:t> (%)</m:t>
                      </m:r>
                      <m:r>
                        <a:rPr lang="en-IN" sz="1800">
                          <a:latin typeface="Cambria Math" panose="02040503050406030204" pitchFamily="18" charset="0"/>
                        </a:rPr>
                        <m:t>=</m:t>
                      </m:r>
                      <m:f>
                        <m:fPr>
                          <m:ctrlPr>
                            <a:rPr lang="ar-AE" sz="1800" i="1">
                              <a:latin typeface="Cambria Math" panose="02040503050406030204" pitchFamily="18" charset="0"/>
                            </a:rPr>
                          </m:ctrlPr>
                        </m:fPr>
                        <m:num>
                          <m:r>
                            <m:rPr>
                              <m:nor/>
                            </m:rPr>
                            <a:rPr lang="en-IN" sz="1800" i="1"/>
                            <m:t>Optimal</m:t>
                          </m:r>
                          <m:r>
                            <m:rPr>
                              <m:nor/>
                            </m:rPr>
                            <a:rPr lang="en-IN" sz="1800" i="1"/>
                            <m:t> </m:t>
                          </m:r>
                          <m:r>
                            <m:rPr>
                              <m:nor/>
                            </m:rPr>
                            <a:rPr lang="en-IN" sz="1800" i="1"/>
                            <m:t>Yield</m:t>
                          </m:r>
                          <m:r>
                            <a:rPr lang="en-IN" sz="1800">
                              <a:latin typeface="Cambria Math" panose="02040503050406030204" pitchFamily="18" charset="0"/>
                            </a:rPr>
                            <m:t>−</m:t>
                          </m:r>
                          <m:r>
                            <m:rPr>
                              <m:nor/>
                            </m:rPr>
                            <a:rPr lang="en-IN" sz="1800" i="1"/>
                            <m:t>Predicted</m:t>
                          </m:r>
                          <m:r>
                            <m:rPr>
                              <m:nor/>
                            </m:rPr>
                            <a:rPr lang="en-IN" sz="1800" i="1"/>
                            <m:t> </m:t>
                          </m:r>
                          <m:r>
                            <m:rPr>
                              <m:nor/>
                            </m:rPr>
                            <a:rPr lang="en-IN" sz="1800" i="1"/>
                            <m:t>Yield</m:t>
                          </m:r>
                        </m:num>
                        <m:den>
                          <m:r>
                            <m:rPr>
                              <m:nor/>
                            </m:rPr>
                            <a:rPr lang="en-IN" sz="1800" i="1"/>
                            <m:t>Optimal</m:t>
                          </m:r>
                          <m:r>
                            <m:rPr>
                              <m:nor/>
                            </m:rPr>
                            <a:rPr lang="en-IN" sz="1800" i="1"/>
                            <m:t> </m:t>
                          </m:r>
                          <m:r>
                            <m:rPr>
                              <m:nor/>
                            </m:rPr>
                            <a:rPr lang="en-IN" sz="1800" i="1"/>
                            <m:t>Yield</m:t>
                          </m:r>
                        </m:den>
                      </m:f>
                      <m:r>
                        <a:rPr lang="ar-AE" sz="1800">
                          <a:latin typeface="Cambria Math" panose="02040503050406030204" pitchFamily="18" charset="0"/>
                        </a:rPr>
                        <m:t>×</m:t>
                      </m:r>
                      <m:r>
                        <a:rPr lang="ar-AE" sz="1800">
                          <a:latin typeface="Cambria Math" panose="02040503050406030204" pitchFamily="18" charset="0"/>
                        </a:rPr>
                        <m:t>100</m:t>
                      </m:r>
                    </m:oMath>
                  </m:oMathPara>
                </a14:m>
                <a:endParaRPr lang="ar-AE" sz="1800" dirty="0"/>
              </a:p>
              <a:p>
                <a:pPr algn="l"/>
                <a:r>
                  <a:rPr lang="en-IN" sz="1800" dirty="0"/>
                  <a:t>The system stores yield values, loss percentage, and related metadata in the database.</a:t>
                </a:r>
              </a:p>
              <a:p>
                <a:pPr algn="l"/>
                <a:r>
                  <a:rPr lang="en-US" sz="1800" b="1" u="sng" dirty="0"/>
                  <a:t>Step 6: Result Display:-</a:t>
                </a:r>
              </a:p>
              <a:p>
                <a:pPr algn="l"/>
                <a:r>
                  <a:rPr lang="en-US" sz="1800" dirty="0"/>
                  <a:t>The frontend interface displays:</a:t>
                </a:r>
              </a:p>
              <a:p>
                <a:pPr marL="285750" indent="-285750" algn="l">
                  <a:buFont typeface="Arial" panose="020B0604020202020204" pitchFamily="34" charset="0"/>
                  <a:buChar char="•"/>
                </a:pPr>
                <a:r>
                  <a:rPr lang="en-US" sz="1800" b="1" dirty="0"/>
                  <a:t>Predicted Yield (in tons/hectare)</a:t>
                </a:r>
                <a:endParaRPr lang="en-US" sz="1800" dirty="0"/>
              </a:p>
              <a:p>
                <a:pPr marL="285750" indent="-285750" algn="l">
                  <a:buFont typeface="Arial" panose="020B0604020202020204" pitchFamily="34" charset="0"/>
                  <a:buChar char="•"/>
                </a:pPr>
                <a:r>
                  <a:rPr lang="en-US" sz="1800" b="1" dirty="0"/>
                  <a:t>Yield Loss Percentage (%)</a:t>
                </a:r>
                <a:endParaRPr lang="en-US" sz="1800" dirty="0"/>
              </a:p>
              <a:p>
                <a:pPr marL="285750" indent="-285750" algn="l">
                  <a:buFont typeface="Arial" panose="020B0604020202020204" pitchFamily="34" charset="0"/>
                  <a:buChar char="•"/>
                </a:pPr>
                <a:r>
                  <a:rPr lang="en-US" sz="1800" b="1" dirty="0"/>
                  <a:t>Contributing Factors or Visual Indicators</a:t>
                </a:r>
                <a:br>
                  <a:rPr lang="en-US" sz="1800" dirty="0"/>
                </a:br>
                <a:r>
                  <a:rPr lang="en-US" sz="1800" dirty="0"/>
                  <a:t>Results can be downloaded or used for further analytics.</a:t>
                </a:r>
              </a:p>
              <a:p>
                <a:endParaRPr lang="en-IN" dirty="0"/>
              </a:p>
            </p:txBody>
          </p:sp>
        </mc:Choice>
        <mc:Fallback xmlns="">
          <p:sp>
            <p:nvSpPr>
              <p:cNvPr id="3" name="Subtitle 2">
                <a:extLst>
                  <a:ext uri="{FF2B5EF4-FFF2-40B4-BE49-F238E27FC236}">
                    <a16:creationId xmlns:a16="http://schemas.microsoft.com/office/drawing/2014/main" id="{D0C97C49-0716-1342-78E3-AE763FD948D6}"/>
                  </a:ext>
                </a:extLst>
              </p:cNvPr>
              <p:cNvSpPr>
                <a:spLocks noGrp="1" noRot="1" noChangeAspect="1" noMove="1" noResize="1" noEditPoints="1" noAdjustHandles="1" noChangeArrowheads="1" noChangeShapeType="1" noTextEdit="1"/>
              </p:cNvSpPr>
              <p:nvPr>
                <p:ph type="subTitle" idx="1"/>
              </p:nvPr>
            </p:nvSpPr>
            <p:spPr>
              <a:xfrm>
                <a:off x="160774" y="945381"/>
                <a:ext cx="11435024" cy="5555903"/>
              </a:xfrm>
              <a:blipFill>
                <a:blip r:embed="rId2"/>
                <a:stretch>
                  <a:fillRect l="-426" t="-988" r="-800"/>
                </a:stretch>
              </a:blipFill>
            </p:spPr>
            <p:txBody>
              <a:bodyPr/>
              <a:lstStyle/>
              <a:p>
                <a:r>
                  <a:rPr lang="en-IN">
                    <a:noFill/>
                  </a:rPr>
                  <a:t> </a:t>
                </a:r>
              </a:p>
            </p:txBody>
          </p:sp>
        </mc:Fallback>
      </mc:AlternateContent>
    </p:spTree>
    <p:extLst>
      <p:ext uri="{BB962C8B-B14F-4D97-AF65-F5344CB8AC3E}">
        <p14:creationId xmlns:p14="http://schemas.microsoft.com/office/powerpoint/2010/main" val="24796166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9F53E-7242-B546-6FA2-3A9F492F838A}"/>
              </a:ext>
            </a:extLst>
          </p:cNvPr>
          <p:cNvSpPr>
            <a:spLocks noGrp="1"/>
          </p:cNvSpPr>
          <p:nvPr>
            <p:ph type="ctrTitle"/>
          </p:nvPr>
        </p:nvSpPr>
        <p:spPr>
          <a:xfrm>
            <a:off x="197617" y="56783"/>
            <a:ext cx="9144000" cy="445216"/>
          </a:xfrm>
        </p:spPr>
        <p:txBody>
          <a:bodyPr>
            <a:normAutofit fontScale="90000"/>
          </a:bodyPr>
          <a:lstStyle/>
          <a:p>
            <a:pPr algn="l"/>
            <a:r>
              <a:rPr lang="en-US" sz="2800" b="1" dirty="0">
                <a:latin typeface="Times New Roman" panose="02020603050405020304" pitchFamily="18" charset="0"/>
                <a:cs typeface="Times New Roman" panose="02020603050405020304" pitchFamily="18" charset="0"/>
              </a:rPr>
              <a:t>7. </a:t>
            </a:r>
            <a:r>
              <a:rPr lang="en-US" sz="2800" b="1" u="sng" dirty="0">
                <a:latin typeface="Times New Roman" panose="02020603050405020304" pitchFamily="18" charset="0"/>
                <a:cs typeface="Times New Roman" panose="02020603050405020304" pitchFamily="18" charset="0"/>
              </a:rPr>
              <a:t>Proposed System Architecture &amp; Algorithm</a:t>
            </a:r>
            <a:endParaRPr lang="en-IN" sz="2800" dirty="0"/>
          </a:p>
        </p:txBody>
      </p:sp>
      <p:sp>
        <p:nvSpPr>
          <p:cNvPr id="7" name="AutoShape 4">
            <a:extLst>
              <a:ext uri="{FF2B5EF4-FFF2-40B4-BE49-F238E27FC236}">
                <a16:creationId xmlns:a16="http://schemas.microsoft.com/office/drawing/2014/main" id="{AC19A8FD-4D72-C881-3FD4-E753F092088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8" name="Picture 7">
            <a:extLst>
              <a:ext uri="{FF2B5EF4-FFF2-40B4-BE49-F238E27FC236}">
                <a16:creationId xmlns:a16="http://schemas.microsoft.com/office/drawing/2014/main" id="{9E58DFBC-9E39-FA08-7804-B983D01A069E}"/>
              </a:ext>
            </a:extLst>
          </p:cNvPr>
          <p:cNvPicPr>
            <a:picLocks noChangeAspect="1"/>
          </p:cNvPicPr>
          <p:nvPr/>
        </p:nvPicPr>
        <p:blipFill>
          <a:blip r:embed="rId2"/>
          <a:stretch>
            <a:fillRect/>
          </a:stretch>
        </p:blipFill>
        <p:spPr>
          <a:xfrm>
            <a:off x="1093806" y="894025"/>
            <a:ext cx="9758414" cy="5552411"/>
          </a:xfrm>
          <a:prstGeom prst="rect">
            <a:avLst/>
          </a:prstGeom>
        </p:spPr>
      </p:pic>
    </p:spTree>
    <p:extLst>
      <p:ext uri="{BB962C8B-B14F-4D97-AF65-F5344CB8AC3E}">
        <p14:creationId xmlns:p14="http://schemas.microsoft.com/office/powerpoint/2010/main" val="33092177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39F07-7378-B1E2-DEFA-04159E7E8BFB}"/>
              </a:ext>
            </a:extLst>
          </p:cNvPr>
          <p:cNvSpPr>
            <a:spLocks noGrp="1"/>
          </p:cNvSpPr>
          <p:nvPr>
            <p:ph type="title"/>
          </p:nvPr>
        </p:nvSpPr>
        <p:spPr>
          <a:xfrm>
            <a:off x="225251" y="77054"/>
            <a:ext cx="10515600" cy="629662"/>
          </a:xfrm>
        </p:spPr>
        <p:txBody>
          <a:bodyPr>
            <a:normAutofit/>
          </a:bodyPr>
          <a:lstStyle/>
          <a:p>
            <a:r>
              <a:rPr lang="en-US" sz="2800" b="1" dirty="0">
                <a:latin typeface="Times New Roman" panose="02020603050405020304" pitchFamily="18" charset="0"/>
                <a:cs typeface="Times New Roman" panose="02020603050405020304" pitchFamily="18" charset="0"/>
              </a:rPr>
              <a:t>7. </a:t>
            </a:r>
            <a:r>
              <a:rPr lang="en-US" sz="2800" b="1" u="sng" dirty="0">
                <a:latin typeface="Times New Roman" panose="02020603050405020304" pitchFamily="18" charset="0"/>
                <a:cs typeface="Times New Roman" panose="02020603050405020304" pitchFamily="18" charset="0"/>
              </a:rPr>
              <a:t>Proposed System Architecture &amp; Algorithm</a:t>
            </a:r>
            <a:endParaRPr lang="en-IN" sz="2800" u="sng" dirty="0">
              <a:latin typeface="Times New Roman" panose="02020603050405020304" pitchFamily="18" charset="0"/>
              <a:cs typeface="Times New Roman" panose="02020603050405020304" pitchFamily="18" charset="0"/>
            </a:endParaRPr>
          </a:p>
        </p:txBody>
      </p:sp>
      <p:pic>
        <p:nvPicPr>
          <p:cNvPr id="2050" name="Picture 2" descr="Yield Loss Estimation System Flowchart PNG">
            <a:extLst>
              <a:ext uri="{FF2B5EF4-FFF2-40B4-BE49-F238E27FC236}">
                <a16:creationId xmlns:a16="http://schemas.microsoft.com/office/drawing/2014/main" id="{C40510BD-1AB8-8C5D-850B-E2A16E593F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94409" y="887641"/>
            <a:ext cx="6574971" cy="55784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93081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2A36C5-C61F-ABC9-6208-294FED38AC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9AE64A-1DB9-339D-000A-9A4DD448D7A7}"/>
              </a:ext>
            </a:extLst>
          </p:cNvPr>
          <p:cNvSpPr>
            <a:spLocks noGrp="1"/>
          </p:cNvSpPr>
          <p:nvPr>
            <p:ph type="title"/>
          </p:nvPr>
        </p:nvSpPr>
        <p:spPr>
          <a:xfrm>
            <a:off x="295589" y="0"/>
            <a:ext cx="10515600" cy="639710"/>
          </a:xfrm>
        </p:spPr>
        <p:txBody>
          <a:bodyPr>
            <a:normAutofit/>
          </a:bodyPr>
          <a:lstStyle/>
          <a:p>
            <a:r>
              <a:rPr lang="en-US" sz="2800" b="1" dirty="0">
                <a:latin typeface="Times New Roman" panose="02020603050405020304" pitchFamily="18" charset="0"/>
                <a:cs typeface="Times New Roman" panose="02020603050405020304" pitchFamily="18" charset="0"/>
              </a:rPr>
              <a:t>8. </a:t>
            </a:r>
            <a:r>
              <a:rPr lang="en-US" sz="2800" b="1" u="sng" dirty="0">
                <a:latin typeface="Times New Roman" panose="02020603050405020304" pitchFamily="18" charset="0"/>
                <a:cs typeface="Times New Roman" panose="02020603050405020304" pitchFamily="18" charset="0"/>
              </a:rPr>
              <a:t>Implementation and result analysis</a:t>
            </a:r>
            <a:endParaRPr lang="en-IN" sz="2800" u="sng"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65145372-4F9D-DE63-13A1-94DC41B9C2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387" y="639710"/>
            <a:ext cx="12192000" cy="5976089"/>
          </a:xfrm>
          <a:prstGeom prst="rect">
            <a:avLst/>
          </a:prstGeom>
        </p:spPr>
      </p:pic>
    </p:spTree>
    <p:extLst>
      <p:ext uri="{BB962C8B-B14F-4D97-AF65-F5344CB8AC3E}">
        <p14:creationId xmlns:p14="http://schemas.microsoft.com/office/powerpoint/2010/main" val="37187606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428D8E-3610-1856-CE3E-DB0A7E4356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8B091A-1CE8-BBE8-6DAA-8D33CAC53AD6}"/>
              </a:ext>
            </a:extLst>
          </p:cNvPr>
          <p:cNvSpPr>
            <a:spLocks noGrp="1"/>
          </p:cNvSpPr>
          <p:nvPr>
            <p:ph type="title"/>
          </p:nvPr>
        </p:nvSpPr>
        <p:spPr>
          <a:xfrm>
            <a:off x="74525" y="54067"/>
            <a:ext cx="10476244" cy="512466"/>
          </a:xfrm>
        </p:spPr>
        <p:txBody>
          <a:bodyPr>
            <a:normAutofit/>
          </a:bodyPr>
          <a:lstStyle/>
          <a:p>
            <a:r>
              <a:rPr lang="en-US" sz="2800" b="1" dirty="0">
                <a:latin typeface="Times New Roman" panose="02020603050405020304" pitchFamily="18" charset="0"/>
                <a:cs typeface="Times New Roman" panose="02020603050405020304" pitchFamily="18" charset="0"/>
              </a:rPr>
              <a:t>8. </a:t>
            </a:r>
            <a:r>
              <a:rPr lang="en-US" sz="2800" b="1" u="sng" dirty="0">
                <a:latin typeface="Times New Roman" panose="02020603050405020304" pitchFamily="18" charset="0"/>
                <a:cs typeface="Times New Roman" panose="02020603050405020304" pitchFamily="18" charset="0"/>
              </a:rPr>
              <a:t>Implementation and result analysis</a:t>
            </a:r>
            <a:endParaRPr lang="en-IN" sz="2800" dirty="0"/>
          </a:p>
        </p:txBody>
      </p:sp>
      <p:pic>
        <p:nvPicPr>
          <p:cNvPr id="4" name="Picture 3">
            <a:extLst>
              <a:ext uri="{FF2B5EF4-FFF2-40B4-BE49-F238E27FC236}">
                <a16:creationId xmlns:a16="http://schemas.microsoft.com/office/drawing/2014/main" id="{00050194-A76E-0787-DDD1-803F3FD5B4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525" y="693323"/>
            <a:ext cx="12192000" cy="5873287"/>
          </a:xfrm>
          <a:prstGeom prst="rect">
            <a:avLst/>
          </a:prstGeom>
        </p:spPr>
      </p:pic>
    </p:spTree>
    <p:extLst>
      <p:ext uri="{BB962C8B-B14F-4D97-AF65-F5344CB8AC3E}">
        <p14:creationId xmlns:p14="http://schemas.microsoft.com/office/powerpoint/2010/main" val="25371920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D8572D-69BE-7762-2789-F234CA0E17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8B9719-F141-C224-8F8A-7663767C2531}"/>
              </a:ext>
            </a:extLst>
          </p:cNvPr>
          <p:cNvSpPr>
            <a:spLocks noGrp="1"/>
          </p:cNvSpPr>
          <p:nvPr>
            <p:ph type="title"/>
          </p:nvPr>
        </p:nvSpPr>
        <p:spPr>
          <a:xfrm>
            <a:off x="74525" y="54067"/>
            <a:ext cx="10476244" cy="512466"/>
          </a:xfrm>
        </p:spPr>
        <p:txBody>
          <a:bodyPr>
            <a:normAutofit/>
          </a:bodyPr>
          <a:lstStyle/>
          <a:p>
            <a:r>
              <a:rPr lang="en-US" sz="2800" b="1" dirty="0">
                <a:latin typeface="Times New Roman" panose="02020603050405020304" pitchFamily="18" charset="0"/>
                <a:cs typeface="Times New Roman" panose="02020603050405020304" pitchFamily="18" charset="0"/>
              </a:rPr>
              <a:t>8. </a:t>
            </a:r>
            <a:r>
              <a:rPr lang="en-US" sz="2800" b="1" u="sng" dirty="0">
                <a:latin typeface="Times New Roman" panose="02020603050405020304" pitchFamily="18" charset="0"/>
                <a:cs typeface="Times New Roman" panose="02020603050405020304" pitchFamily="18" charset="0"/>
              </a:rPr>
              <a:t>Implementation and result analysis</a:t>
            </a:r>
            <a:endParaRPr lang="en-IN" sz="2800" dirty="0"/>
          </a:p>
        </p:txBody>
      </p:sp>
      <p:pic>
        <p:nvPicPr>
          <p:cNvPr id="5" name="Picture 4">
            <a:extLst>
              <a:ext uri="{FF2B5EF4-FFF2-40B4-BE49-F238E27FC236}">
                <a16:creationId xmlns:a16="http://schemas.microsoft.com/office/drawing/2014/main" id="{6E83E2D3-8643-B155-4A07-6F993E4B7B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09238"/>
            <a:ext cx="12192000" cy="5860805"/>
          </a:xfrm>
          <a:prstGeom prst="rect">
            <a:avLst/>
          </a:prstGeom>
        </p:spPr>
      </p:pic>
    </p:spTree>
    <p:extLst>
      <p:ext uri="{BB962C8B-B14F-4D97-AF65-F5344CB8AC3E}">
        <p14:creationId xmlns:p14="http://schemas.microsoft.com/office/powerpoint/2010/main" val="17977421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CEDD21-9BCA-5549-3ADD-10A550BAAA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34555C-8993-FB9C-8D10-CF2EB5995F20}"/>
              </a:ext>
            </a:extLst>
          </p:cNvPr>
          <p:cNvSpPr>
            <a:spLocks noGrp="1"/>
          </p:cNvSpPr>
          <p:nvPr>
            <p:ph type="title"/>
          </p:nvPr>
        </p:nvSpPr>
        <p:spPr>
          <a:xfrm>
            <a:off x="74525" y="54067"/>
            <a:ext cx="10476244" cy="512466"/>
          </a:xfrm>
        </p:spPr>
        <p:txBody>
          <a:bodyPr>
            <a:normAutofit/>
          </a:bodyPr>
          <a:lstStyle/>
          <a:p>
            <a:r>
              <a:rPr lang="en-US" sz="2800" b="1" dirty="0">
                <a:latin typeface="Times New Roman" panose="02020603050405020304" pitchFamily="18" charset="0"/>
                <a:cs typeface="Times New Roman" panose="02020603050405020304" pitchFamily="18" charset="0"/>
              </a:rPr>
              <a:t>8. </a:t>
            </a:r>
            <a:r>
              <a:rPr lang="en-US" sz="2800" b="1" u="sng" dirty="0">
                <a:latin typeface="Times New Roman" panose="02020603050405020304" pitchFamily="18" charset="0"/>
                <a:cs typeface="Times New Roman" panose="02020603050405020304" pitchFamily="18" charset="0"/>
              </a:rPr>
              <a:t>Implementation and result analysis</a:t>
            </a:r>
            <a:endParaRPr lang="en-IN" sz="2800" dirty="0"/>
          </a:p>
        </p:txBody>
      </p:sp>
      <p:pic>
        <p:nvPicPr>
          <p:cNvPr id="4" name="Picture 3">
            <a:extLst>
              <a:ext uri="{FF2B5EF4-FFF2-40B4-BE49-F238E27FC236}">
                <a16:creationId xmlns:a16="http://schemas.microsoft.com/office/drawing/2014/main" id="{77D9A8E5-1763-25B6-0896-F37C3676FF4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24173"/>
            <a:ext cx="12192000" cy="5809654"/>
          </a:xfrm>
          <a:prstGeom prst="rect">
            <a:avLst/>
          </a:prstGeom>
        </p:spPr>
      </p:pic>
    </p:spTree>
    <p:extLst>
      <p:ext uri="{BB962C8B-B14F-4D97-AF65-F5344CB8AC3E}">
        <p14:creationId xmlns:p14="http://schemas.microsoft.com/office/powerpoint/2010/main" val="805097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C9320C-09EC-8D0D-8825-A2B246C50B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73878A-DEAB-482D-EC81-66E281C10595}"/>
              </a:ext>
            </a:extLst>
          </p:cNvPr>
          <p:cNvSpPr>
            <a:spLocks noGrp="1"/>
          </p:cNvSpPr>
          <p:nvPr>
            <p:ph type="title"/>
          </p:nvPr>
        </p:nvSpPr>
        <p:spPr>
          <a:xfrm>
            <a:off x="104671" y="0"/>
            <a:ext cx="10515600" cy="639710"/>
          </a:xfrm>
        </p:spPr>
        <p:txBody>
          <a:bodyPr>
            <a:normAutofit/>
          </a:bodyPr>
          <a:lstStyle/>
          <a:p>
            <a:r>
              <a:rPr lang="en-US" sz="2800" b="1" dirty="0">
                <a:latin typeface="Times New Roman" panose="02020603050405020304" pitchFamily="18" charset="0"/>
                <a:cs typeface="Times New Roman" panose="02020603050405020304" pitchFamily="18" charset="0"/>
              </a:rPr>
              <a:t>8. </a:t>
            </a:r>
            <a:r>
              <a:rPr lang="en-US" sz="2800" b="1" u="sng" dirty="0">
                <a:latin typeface="Times New Roman" panose="02020603050405020304" pitchFamily="18" charset="0"/>
                <a:cs typeface="Times New Roman" panose="02020603050405020304" pitchFamily="18" charset="0"/>
              </a:rPr>
              <a:t>Implementation and result analysis</a:t>
            </a:r>
            <a:endParaRPr lang="en-IN" sz="2800" dirty="0"/>
          </a:p>
        </p:txBody>
      </p:sp>
      <p:pic>
        <p:nvPicPr>
          <p:cNvPr id="4" name="Picture 3">
            <a:extLst>
              <a:ext uri="{FF2B5EF4-FFF2-40B4-BE49-F238E27FC236}">
                <a16:creationId xmlns:a16="http://schemas.microsoft.com/office/drawing/2014/main" id="{559AD19E-1637-7498-C3EA-B5043F6E66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9710"/>
            <a:ext cx="12192000" cy="5911658"/>
          </a:xfrm>
          <a:prstGeom prst="rect">
            <a:avLst/>
          </a:prstGeom>
        </p:spPr>
      </p:pic>
    </p:spTree>
    <p:extLst>
      <p:ext uri="{BB962C8B-B14F-4D97-AF65-F5344CB8AC3E}">
        <p14:creationId xmlns:p14="http://schemas.microsoft.com/office/powerpoint/2010/main" val="34939581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1EEA2B-5D9D-21BD-6D40-F8DE954331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9042DB-E841-9775-C6DE-9F8FAADAD173}"/>
              </a:ext>
            </a:extLst>
          </p:cNvPr>
          <p:cNvSpPr>
            <a:spLocks noGrp="1"/>
          </p:cNvSpPr>
          <p:nvPr>
            <p:ph type="title"/>
          </p:nvPr>
        </p:nvSpPr>
        <p:spPr>
          <a:xfrm>
            <a:off x="104671" y="0"/>
            <a:ext cx="10515600" cy="639710"/>
          </a:xfrm>
        </p:spPr>
        <p:txBody>
          <a:bodyPr>
            <a:normAutofit/>
          </a:bodyPr>
          <a:lstStyle/>
          <a:p>
            <a:r>
              <a:rPr lang="en-US" sz="2800" b="1" dirty="0">
                <a:latin typeface="Times New Roman" panose="02020603050405020304" pitchFamily="18" charset="0"/>
                <a:cs typeface="Times New Roman" panose="02020603050405020304" pitchFamily="18" charset="0"/>
              </a:rPr>
              <a:t>8. </a:t>
            </a:r>
            <a:r>
              <a:rPr lang="en-US" sz="2800" b="1" u="sng" dirty="0">
                <a:latin typeface="Times New Roman" panose="02020603050405020304" pitchFamily="18" charset="0"/>
                <a:cs typeface="Times New Roman" panose="02020603050405020304" pitchFamily="18" charset="0"/>
              </a:rPr>
              <a:t>Implementation and result analysis</a:t>
            </a:r>
            <a:endParaRPr lang="en-IN" sz="2800" dirty="0"/>
          </a:p>
        </p:txBody>
      </p:sp>
      <p:pic>
        <p:nvPicPr>
          <p:cNvPr id="5" name="Picture 4">
            <a:extLst>
              <a:ext uri="{FF2B5EF4-FFF2-40B4-BE49-F238E27FC236}">
                <a16:creationId xmlns:a16="http://schemas.microsoft.com/office/drawing/2014/main" id="{F8D9B81B-6D0E-A570-571F-995DC947D3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732" y="669896"/>
            <a:ext cx="4405208" cy="6188104"/>
          </a:xfrm>
          <a:prstGeom prst="rect">
            <a:avLst/>
          </a:prstGeom>
        </p:spPr>
      </p:pic>
      <p:pic>
        <p:nvPicPr>
          <p:cNvPr id="7" name="Picture 6">
            <a:extLst>
              <a:ext uri="{FF2B5EF4-FFF2-40B4-BE49-F238E27FC236}">
                <a16:creationId xmlns:a16="http://schemas.microsoft.com/office/drawing/2014/main" id="{AD30AB8A-8B65-1769-C18B-E7914D16548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639710"/>
            <a:ext cx="5047729" cy="6218290"/>
          </a:xfrm>
          <a:prstGeom prst="rect">
            <a:avLst/>
          </a:prstGeom>
        </p:spPr>
      </p:pic>
    </p:spTree>
    <p:extLst>
      <p:ext uri="{BB962C8B-B14F-4D97-AF65-F5344CB8AC3E}">
        <p14:creationId xmlns:p14="http://schemas.microsoft.com/office/powerpoint/2010/main" val="29453356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B7EE80-3B93-ABE1-95E4-3F536B9C47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13BF5E-D780-307C-A685-13340D81752F}"/>
              </a:ext>
            </a:extLst>
          </p:cNvPr>
          <p:cNvSpPr>
            <a:spLocks noGrp="1"/>
          </p:cNvSpPr>
          <p:nvPr>
            <p:ph type="title"/>
          </p:nvPr>
        </p:nvSpPr>
        <p:spPr>
          <a:xfrm>
            <a:off x="94622" y="44256"/>
            <a:ext cx="10515600" cy="639710"/>
          </a:xfrm>
        </p:spPr>
        <p:txBody>
          <a:bodyPr>
            <a:normAutofit/>
          </a:bodyPr>
          <a:lstStyle/>
          <a:p>
            <a:r>
              <a:rPr lang="en-US" sz="2800" b="1" dirty="0">
                <a:latin typeface="Times New Roman" panose="02020603050405020304" pitchFamily="18" charset="0"/>
                <a:cs typeface="Times New Roman" panose="02020603050405020304" pitchFamily="18" charset="0"/>
              </a:rPr>
              <a:t>8. </a:t>
            </a:r>
            <a:r>
              <a:rPr lang="en-US" sz="2800" b="1" u="sng" dirty="0">
                <a:latin typeface="Times New Roman" panose="02020603050405020304" pitchFamily="18" charset="0"/>
                <a:cs typeface="Times New Roman" panose="02020603050405020304" pitchFamily="18" charset="0"/>
              </a:rPr>
              <a:t>Implementation and result analysis</a:t>
            </a:r>
            <a:endParaRPr lang="en-IN" sz="2800" dirty="0"/>
          </a:p>
        </p:txBody>
      </p:sp>
      <p:pic>
        <p:nvPicPr>
          <p:cNvPr id="4" name="Picture 3">
            <a:extLst>
              <a:ext uri="{FF2B5EF4-FFF2-40B4-BE49-F238E27FC236}">
                <a16:creationId xmlns:a16="http://schemas.microsoft.com/office/drawing/2014/main" id="{20FCAF2D-D9C8-2D91-A6D7-EF622F85CE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2968" y="1728994"/>
            <a:ext cx="10646063" cy="2606266"/>
          </a:xfrm>
          <a:prstGeom prst="rect">
            <a:avLst/>
          </a:prstGeom>
        </p:spPr>
      </p:pic>
    </p:spTree>
    <p:extLst>
      <p:ext uri="{BB962C8B-B14F-4D97-AF65-F5344CB8AC3E}">
        <p14:creationId xmlns:p14="http://schemas.microsoft.com/office/powerpoint/2010/main" val="23189092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9B7528-D431-75A0-3C75-33F126B3A1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9ACBB7-970A-1661-FFB3-31E2DE087829}"/>
              </a:ext>
            </a:extLst>
          </p:cNvPr>
          <p:cNvSpPr>
            <a:spLocks noGrp="1"/>
          </p:cNvSpPr>
          <p:nvPr>
            <p:ph type="title"/>
          </p:nvPr>
        </p:nvSpPr>
        <p:spPr>
          <a:xfrm>
            <a:off x="94622" y="44256"/>
            <a:ext cx="10515600" cy="639710"/>
          </a:xfrm>
        </p:spPr>
        <p:txBody>
          <a:bodyPr>
            <a:normAutofit/>
          </a:bodyPr>
          <a:lstStyle/>
          <a:p>
            <a:r>
              <a:rPr lang="en-US" sz="2800" b="1" dirty="0">
                <a:latin typeface="Times New Roman" panose="02020603050405020304" pitchFamily="18" charset="0"/>
                <a:cs typeface="Times New Roman" panose="02020603050405020304" pitchFamily="18" charset="0"/>
              </a:rPr>
              <a:t>8. </a:t>
            </a:r>
            <a:r>
              <a:rPr lang="en-US" sz="2800" b="1" u="sng" dirty="0">
                <a:latin typeface="Times New Roman" panose="02020603050405020304" pitchFamily="18" charset="0"/>
                <a:cs typeface="Times New Roman" panose="02020603050405020304" pitchFamily="18" charset="0"/>
              </a:rPr>
              <a:t>Implementation and result analysis</a:t>
            </a:r>
            <a:endParaRPr lang="en-IN" sz="2800" dirty="0"/>
          </a:p>
        </p:txBody>
      </p:sp>
      <p:pic>
        <p:nvPicPr>
          <p:cNvPr id="5" name="Picture 4">
            <a:extLst>
              <a:ext uri="{FF2B5EF4-FFF2-40B4-BE49-F238E27FC236}">
                <a16:creationId xmlns:a16="http://schemas.microsoft.com/office/drawing/2014/main" id="{47213983-7F73-1177-4BD3-B87C7FFBCF4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789999"/>
            <a:ext cx="12192000" cy="5860805"/>
          </a:xfrm>
          <a:prstGeom prst="rect">
            <a:avLst/>
          </a:prstGeom>
        </p:spPr>
      </p:pic>
    </p:spTree>
    <p:extLst>
      <p:ext uri="{BB962C8B-B14F-4D97-AF65-F5344CB8AC3E}">
        <p14:creationId xmlns:p14="http://schemas.microsoft.com/office/powerpoint/2010/main" val="33713647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1293BD-D02C-4359-1F7D-F5E692BE9D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2539BF-FE0B-58EF-4036-0D564FEF2E83}"/>
              </a:ext>
            </a:extLst>
          </p:cNvPr>
          <p:cNvSpPr>
            <a:spLocks noGrp="1"/>
          </p:cNvSpPr>
          <p:nvPr>
            <p:ph type="title"/>
          </p:nvPr>
        </p:nvSpPr>
        <p:spPr>
          <a:xfrm>
            <a:off x="175009" y="0"/>
            <a:ext cx="10515600" cy="639710"/>
          </a:xfrm>
        </p:spPr>
        <p:txBody>
          <a:bodyPr>
            <a:normAutofit/>
          </a:bodyPr>
          <a:lstStyle/>
          <a:p>
            <a:r>
              <a:rPr lang="en-US" sz="2400" b="1" dirty="0">
                <a:latin typeface="Times New Roman" panose="02020603050405020304" pitchFamily="18" charset="0"/>
                <a:cs typeface="Times New Roman" panose="02020603050405020304" pitchFamily="18" charset="0"/>
              </a:rPr>
              <a:t>8. </a:t>
            </a:r>
            <a:r>
              <a:rPr lang="en-US" sz="2400" b="1" u="sng" dirty="0">
                <a:latin typeface="Times New Roman" panose="02020603050405020304" pitchFamily="18" charset="0"/>
                <a:cs typeface="Times New Roman" panose="02020603050405020304" pitchFamily="18" charset="0"/>
              </a:rPr>
              <a:t>Implementation and result analysis</a:t>
            </a:r>
            <a:endParaRPr lang="en-IN" sz="2500" dirty="0"/>
          </a:p>
        </p:txBody>
      </p:sp>
      <p:pic>
        <p:nvPicPr>
          <p:cNvPr id="5" name="Picture 4">
            <a:extLst>
              <a:ext uri="{FF2B5EF4-FFF2-40B4-BE49-F238E27FC236}">
                <a16:creationId xmlns:a16="http://schemas.microsoft.com/office/drawing/2014/main" id="{EBD80E2A-532E-62C1-6195-B0777C1219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39710"/>
            <a:ext cx="12192000" cy="5976723"/>
          </a:xfrm>
          <a:prstGeom prst="rect">
            <a:avLst/>
          </a:prstGeom>
        </p:spPr>
      </p:pic>
      <p:pic>
        <p:nvPicPr>
          <p:cNvPr id="4" name="Picture 3">
            <a:extLst>
              <a:ext uri="{FF2B5EF4-FFF2-40B4-BE49-F238E27FC236}">
                <a16:creationId xmlns:a16="http://schemas.microsoft.com/office/drawing/2014/main" id="{9F3FC273-D26F-17B9-F02D-9510D3EBA73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39710"/>
            <a:ext cx="12192000" cy="5910886"/>
          </a:xfrm>
          <a:prstGeom prst="rect">
            <a:avLst/>
          </a:prstGeom>
        </p:spPr>
      </p:pic>
    </p:spTree>
    <p:extLst>
      <p:ext uri="{BB962C8B-B14F-4D97-AF65-F5344CB8AC3E}">
        <p14:creationId xmlns:p14="http://schemas.microsoft.com/office/powerpoint/2010/main" val="1099497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9296E-CA59-7E14-DBAE-D68F87E1B8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88AF16-110B-89F8-10EE-43B1B495A7EF}"/>
              </a:ext>
            </a:extLst>
          </p:cNvPr>
          <p:cNvSpPr>
            <a:spLocks noGrp="1"/>
          </p:cNvSpPr>
          <p:nvPr>
            <p:ph type="title"/>
          </p:nvPr>
        </p:nvSpPr>
        <p:spPr>
          <a:xfrm>
            <a:off x="175009" y="0"/>
            <a:ext cx="10515600" cy="639710"/>
          </a:xfrm>
        </p:spPr>
        <p:txBody>
          <a:bodyPr>
            <a:normAutofit/>
          </a:bodyPr>
          <a:lstStyle/>
          <a:p>
            <a:r>
              <a:rPr lang="en-US" sz="2400" b="1" dirty="0">
                <a:latin typeface="Times New Roman" panose="02020603050405020304" pitchFamily="18" charset="0"/>
                <a:cs typeface="Times New Roman" panose="02020603050405020304" pitchFamily="18" charset="0"/>
              </a:rPr>
              <a:t>8. </a:t>
            </a:r>
            <a:r>
              <a:rPr lang="en-US" sz="2400" b="1" u="sng" dirty="0">
                <a:latin typeface="Times New Roman" panose="02020603050405020304" pitchFamily="18" charset="0"/>
                <a:cs typeface="Times New Roman" panose="02020603050405020304" pitchFamily="18" charset="0"/>
              </a:rPr>
              <a:t>Implementation and result analysis</a:t>
            </a:r>
            <a:endParaRPr lang="en-IN" sz="2500" dirty="0"/>
          </a:p>
        </p:txBody>
      </p:sp>
      <p:pic>
        <p:nvPicPr>
          <p:cNvPr id="6" name="Picture 5">
            <a:extLst>
              <a:ext uri="{FF2B5EF4-FFF2-40B4-BE49-F238E27FC236}">
                <a16:creationId xmlns:a16="http://schemas.microsoft.com/office/drawing/2014/main" id="{822DFA8A-B594-E599-2F5E-6F4E7DFAEF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3528" y="639710"/>
            <a:ext cx="10249319" cy="5962883"/>
          </a:xfrm>
          <a:prstGeom prst="rect">
            <a:avLst/>
          </a:prstGeom>
        </p:spPr>
      </p:pic>
    </p:spTree>
    <p:extLst>
      <p:ext uri="{BB962C8B-B14F-4D97-AF65-F5344CB8AC3E}">
        <p14:creationId xmlns:p14="http://schemas.microsoft.com/office/powerpoint/2010/main" val="230536231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630D0-46F2-C073-94D4-9EAEC4CE7CE6}"/>
              </a:ext>
            </a:extLst>
          </p:cNvPr>
          <p:cNvSpPr>
            <a:spLocks noGrp="1"/>
          </p:cNvSpPr>
          <p:nvPr>
            <p:ph type="ctrTitle"/>
          </p:nvPr>
        </p:nvSpPr>
        <p:spPr>
          <a:xfrm>
            <a:off x="1524000" y="100483"/>
            <a:ext cx="9144000" cy="391887"/>
          </a:xfrm>
        </p:spPr>
        <p:txBody>
          <a:bodyPr>
            <a:noAutofit/>
          </a:bodyPr>
          <a:lstStyle/>
          <a:p>
            <a:r>
              <a:rPr lang="en-US" sz="2800" b="1" u="sng" dirty="0">
                <a:latin typeface="Times New Roman" panose="02020603050405020304" pitchFamily="18" charset="0"/>
                <a:cs typeface="Times New Roman" panose="02020603050405020304" pitchFamily="18" charset="0"/>
              </a:rPr>
              <a:t>Conclusion</a:t>
            </a:r>
            <a:endParaRPr lang="en-IN" sz="2800" b="1" u="sng"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19EA8DAC-331C-F965-5973-C895CAC20A10}"/>
              </a:ext>
            </a:extLst>
          </p:cNvPr>
          <p:cNvSpPr>
            <a:spLocks noGrp="1"/>
          </p:cNvSpPr>
          <p:nvPr>
            <p:ph type="subTitle" idx="1"/>
          </p:nvPr>
        </p:nvSpPr>
        <p:spPr>
          <a:xfrm>
            <a:off x="472273" y="1657979"/>
            <a:ext cx="11103428" cy="3637502"/>
          </a:xfrm>
        </p:spPr>
        <p:txBody>
          <a:bodyPr>
            <a:normAutofit/>
          </a:bodyPr>
          <a:lstStyle/>
          <a:p>
            <a:pPr algn="l"/>
            <a:r>
              <a:rPr lang="en-US" dirty="0">
                <a:latin typeface="Times New Roman" panose="02020603050405020304" pitchFamily="18" charset="0"/>
                <a:cs typeface="Times New Roman" panose="02020603050405020304" pitchFamily="18" charset="0"/>
              </a:rPr>
              <a:t>Module 3 focused on estimating crop yield loss using deep learning. Methods like CNN and YOLO effectively detect and classify plant diseases from leaf images. However, challenges like limited generalization and complex hardware persist. Our goal is to develop an accurate, cost-effective solution for real-world farming.</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21776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F43410-3CBD-2A8D-9F8A-682A6D822D39}"/>
              </a:ext>
            </a:extLst>
          </p:cNvPr>
          <p:cNvSpPr>
            <a:spLocks noGrp="1"/>
          </p:cNvSpPr>
          <p:nvPr>
            <p:ph type="ctrTitle"/>
          </p:nvPr>
        </p:nvSpPr>
        <p:spPr>
          <a:xfrm>
            <a:off x="418681" y="90435"/>
            <a:ext cx="9144000" cy="455263"/>
          </a:xfrm>
        </p:spPr>
        <p:txBody>
          <a:bodyPr>
            <a:normAutofit fontScale="90000"/>
          </a:bodyPr>
          <a:lstStyle/>
          <a:p>
            <a:pPr algn="l"/>
            <a:r>
              <a:rPr lang="en-IN" sz="2800" b="1" dirty="0">
                <a:latin typeface="Times New Roman" panose="02020603050405020304" pitchFamily="18" charset="0"/>
                <a:cs typeface="Times New Roman" panose="02020603050405020304" pitchFamily="18" charset="0"/>
              </a:rPr>
              <a:t>8. </a:t>
            </a:r>
            <a:r>
              <a:rPr lang="en-IN" sz="2800" b="1" u="sng" dirty="0">
                <a:latin typeface="Times New Roman" panose="02020603050405020304" pitchFamily="18" charset="0"/>
                <a:cs typeface="Times New Roman" panose="02020603050405020304" pitchFamily="18" charset="0"/>
              </a:rPr>
              <a:t>References</a:t>
            </a:r>
            <a:endParaRPr lang="en-IN" sz="2800" dirty="0"/>
          </a:p>
        </p:txBody>
      </p:sp>
      <p:sp>
        <p:nvSpPr>
          <p:cNvPr id="3" name="Subtitle 2">
            <a:extLst>
              <a:ext uri="{FF2B5EF4-FFF2-40B4-BE49-F238E27FC236}">
                <a16:creationId xmlns:a16="http://schemas.microsoft.com/office/drawing/2014/main" id="{8965E212-9E5D-E3F9-B270-865FC5E43E1D}"/>
              </a:ext>
            </a:extLst>
          </p:cNvPr>
          <p:cNvSpPr>
            <a:spLocks noGrp="1"/>
          </p:cNvSpPr>
          <p:nvPr>
            <p:ph type="subTitle" idx="1"/>
          </p:nvPr>
        </p:nvSpPr>
        <p:spPr>
          <a:xfrm>
            <a:off x="0" y="591490"/>
            <a:ext cx="11949195" cy="6176075"/>
          </a:xfrm>
        </p:spPr>
        <p:txBody>
          <a:bodyPr>
            <a:noAutofit/>
          </a:bodyPr>
          <a:lstStyle/>
          <a:p>
            <a:pPr marL="800100" lvl="0" indent="-342900" algn="just">
              <a:lnSpc>
                <a:spcPct val="100000"/>
              </a:lnSpc>
              <a:spcBef>
                <a:spcPts val="1200"/>
              </a:spcBef>
              <a:buFont typeface="+mj-lt"/>
              <a:buAutoNum type="arabicPeriod"/>
            </a:pPr>
            <a:r>
              <a:rPr lang="en-IN" sz="1800" dirty="0">
                <a:latin typeface="Times New Roman" panose="02020603050405020304" pitchFamily="18" charset="0"/>
                <a:cs typeface="Times New Roman" panose="02020603050405020304" pitchFamily="18" charset="0"/>
              </a:rPr>
              <a:t>Kundu, N., Rani, G., Dhaka, V. S., Gupta, K., Nayaka, S. C., Vocaturo, E., &amp; Zumpano, E. (2022). </a:t>
            </a:r>
            <a:r>
              <a:rPr lang="en-IN" sz="1800" i="1" dirty="0">
                <a:latin typeface="Times New Roman" panose="02020603050405020304" pitchFamily="18" charset="0"/>
                <a:cs typeface="Times New Roman" panose="02020603050405020304" pitchFamily="18" charset="0"/>
              </a:rPr>
              <a:t>Disease detection, severity prediction, and crop loss estimation in maize crop using deep learning</a:t>
            </a:r>
            <a:r>
              <a:rPr lang="en-IN" sz="1800" dirty="0">
                <a:latin typeface="Times New Roman" panose="02020603050405020304" pitchFamily="18" charset="0"/>
                <a:cs typeface="Times New Roman" panose="02020603050405020304" pitchFamily="18" charset="0"/>
              </a:rPr>
              <a:t>.</a:t>
            </a:r>
          </a:p>
          <a:p>
            <a:pPr marL="800100" lvl="0" indent="-342900" algn="just">
              <a:lnSpc>
                <a:spcPct val="100000"/>
              </a:lnSpc>
              <a:spcBef>
                <a:spcPts val="1200"/>
              </a:spcBef>
              <a:buFont typeface="+mj-lt"/>
              <a:buAutoNum type="arabicPeriod"/>
            </a:pPr>
            <a:r>
              <a:rPr lang="en-IN" sz="1800" dirty="0">
                <a:latin typeface="Times New Roman" panose="02020603050405020304" pitchFamily="18" charset="0"/>
                <a:cs typeface="Times New Roman" panose="02020603050405020304" pitchFamily="18" charset="0"/>
              </a:rPr>
              <a:t>Ashfaq, M., Tariq, M. U., Khan, I., Alzahrani, A. R., Khan, H., &amp; Ghani, A. (2024). </a:t>
            </a:r>
            <a:r>
              <a:rPr lang="en-IN" sz="1800" i="1" dirty="0">
                <a:latin typeface="Times New Roman" panose="02020603050405020304" pitchFamily="18" charset="0"/>
                <a:cs typeface="Times New Roman" panose="02020603050405020304" pitchFamily="18" charset="0"/>
              </a:rPr>
              <a:t>Accurate wheat yield prediction using machine learning and climate-NDVI data fusion</a:t>
            </a:r>
            <a:r>
              <a:rPr lang="en-IN" sz="1800" dirty="0">
                <a:latin typeface="Times New Roman" panose="02020603050405020304" pitchFamily="18" charset="0"/>
                <a:cs typeface="Times New Roman" panose="02020603050405020304" pitchFamily="18" charset="0"/>
              </a:rPr>
              <a:t>.</a:t>
            </a:r>
          </a:p>
          <a:p>
            <a:pPr marL="800100" lvl="0" indent="-342900" algn="just">
              <a:lnSpc>
                <a:spcPct val="100000"/>
              </a:lnSpc>
              <a:spcBef>
                <a:spcPts val="1200"/>
              </a:spcBef>
              <a:buFont typeface="+mj-lt"/>
              <a:buAutoNum type="arabicPeriod"/>
            </a:pPr>
            <a:r>
              <a:rPr lang="en-IN" sz="1800" dirty="0">
                <a:latin typeface="Times New Roman" panose="02020603050405020304" pitchFamily="18" charset="0"/>
                <a:cs typeface="Times New Roman" panose="02020603050405020304" pitchFamily="18" charset="0"/>
              </a:rPr>
              <a:t>Rizwan, M., Sun, K. C., Liao, Q., Smith, A. L., Mackenzie, D., Thomas, M. R., Wang, D., &amp; Edwards, E. J. (2023). </a:t>
            </a:r>
            <a:r>
              <a:rPr lang="en-IN" sz="1800" i="1" dirty="0">
                <a:latin typeface="Times New Roman" panose="02020603050405020304" pitchFamily="18" charset="0"/>
                <a:cs typeface="Times New Roman" panose="02020603050405020304" pitchFamily="18" charset="0"/>
              </a:rPr>
              <a:t>Early yield estimation in viticulture based on grapevine inflorescence detection and counting in videos</a:t>
            </a:r>
            <a:r>
              <a:rPr lang="en-IN" sz="1800" dirty="0">
                <a:latin typeface="Times New Roman" panose="02020603050405020304" pitchFamily="18" charset="0"/>
                <a:cs typeface="Times New Roman" panose="02020603050405020304" pitchFamily="18" charset="0"/>
              </a:rPr>
              <a:t>.</a:t>
            </a:r>
          </a:p>
          <a:p>
            <a:pPr marL="800100" lvl="0" indent="-342900" algn="just">
              <a:lnSpc>
                <a:spcPct val="100000"/>
              </a:lnSpc>
              <a:spcBef>
                <a:spcPts val="1200"/>
              </a:spcBef>
              <a:buFont typeface="+mj-lt"/>
              <a:buAutoNum type="arabicPeriod"/>
            </a:pPr>
            <a:r>
              <a:rPr lang="en-IN" sz="1800" dirty="0">
                <a:latin typeface="Times New Roman" panose="02020603050405020304" pitchFamily="18" charset="0"/>
                <a:cs typeface="Times New Roman" panose="02020603050405020304" pitchFamily="18" charset="0"/>
              </a:rPr>
              <a:t>Wang, F., Li, J., Peng, D., Yi, Q., Zhang, X., Zheng, J., &amp; Chen, S. (2024). </a:t>
            </a:r>
            <a:r>
              <a:rPr lang="en-IN" sz="1800" i="1" dirty="0">
                <a:latin typeface="Times New Roman" panose="02020603050405020304" pitchFamily="18" charset="0"/>
                <a:cs typeface="Times New Roman" panose="02020603050405020304" pitchFamily="18" charset="0"/>
              </a:rPr>
              <a:t>Estimating soybean yields using causal inference and deep learning approaches with satellite remote sensing data</a:t>
            </a:r>
            <a:r>
              <a:rPr lang="en-IN" sz="1800" dirty="0">
                <a:latin typeface="Times New Roman" panose="02020603050405020304" pitchFamily="18" charset="0"/>
                <a:cs typeface="Times New Roman" panose="02020603050405020304" pitchFamily="18" charset="0"/>
              </a:rPr>
              <a:t>.</a:t>
            </a:r>
          </a:p>
          <a:p>
            <a:pPr marL="800100" lvl="0" indent="-342900" algn="just">
              <a:lnSpc>
                <a:spcPct val="100000"/>
              </a:lnSpc>
              <a:spcBef>
                <a:spcPts val="1200"/>
              </a:spcBef>
              <a:buFont typeface="+mj-lt"/>
              <a:buAutoNum type="arabicPeriod"/>
            </a:pPr>
            <a:r>
              <a:rPr lang="en-IN" sz="1800" dirty="0">
                <a:latin typeface="Times New Roman" panose="02020603050405020304" pitchFamily="18" charset="0"/>
                <a:cs typeface="Times New Roman" panose="02020603050405020304" pitchFamily="18" charset="0"/>
              </a:rPr>
              <a:t>Narayanasamy, K., &amp; Venkatachalam, I. (2025). </a:t>
            </a:r>
            <a:r>
              <a:rPr lang="en-IN" sz="1800" i="1" dirty="0">
                <a:latin typeface="Times New Roman" panose="02020603050405020304" pitchFamily="18" charset="0"/>
                <a:cs typeface="Times New Roman" panose="02020603050405020304" pitchFamily="18" charset="0"/>
              </a:rPr>
              <a:t>Predicting sugar yield from sugarcane using machine learning for jaggery production</a:t>
            </a:r>
            <a:r>
              <a:rPr lang="en-IN" sz="1800" dirty="0">
                <a:latin typeface="Times New Roman" panose="02020603050405020304" pitchFamily="18" charset="0"/>
                <a:cs typeface="Times New Roman" panose="02020603050405020304" pitchFamily="18" charset="0"/>
              </a:rPr>
              <a:t>.</a:t>
            </a:r>
          </a:p>
          <a:p>
            <a:pPr marL="800100" lvl="0" indent="-342900" algn="just">
              <a:lnSpc>
                <a:spcPct val="100000"/>
              </a:lnSpc>
              <a:spcBef>
                <a:spcPts val="1200"/>
              </a:spcBef>
              <a:buFont typeface="+mj-lt"/>
              <a:buAutoNum type="arabicPeriod"/>
            </a:pPr>
            <a:r>
              <a:rPr lang="en-US" sz="1800" dirty="0">
                <a:latin typeface="Times New Roman" panose="02020603050405020304" pitchFamily="18" charset="0"/>
                <a:cs typeface="Times New Roman" panose="02020603050405020304" pitchFamily="18" charset="0"/>
              </a:rPr>
              <a:t>Mohanty, S. P., Hughes, D. P., &amp; </a:t>
            </a:r>
            <a:r>
              <a:rPr lang="en-US" sz="1800" dirty="0" err="1">
                <a:latin typeface="Times New Roman" panose="02020603050405020304" pitchFamily="18" charset="0"/>
                <a:cs typeface="Times New Roman" panose="02020603050405020304" pitchFamily="18" charset="0"/>
              </a:rPr>
              <a:t>Salathé</a:t>
            </a:r>
            <a:r>
              <a:rPr lang="en-US" sz="1800" dirty="0">
                <a:latin typeface="Times New Roman" panose="02020603050405020304" pitchFamily="18" charset="0"/>
                <a:cs typeface="Times New Roman" panose="02020603050405020304" pitchFamily="18" charset="0"/>
              </a:rPr>
              <a:t>, M. (2016). </a:t>
            </a:r>
            <a:r>
              <a:rPr lang="en-US" sz="1800" i="1" dirty="0">
                <a:latin typeface="Times New Roman" panose="02020603050405020304" pitchFamily="18" charset="0"/>
                <a:cs typeface="Times New Roman" panose="02020603050405020304" pitchFamily="18" charset="0"/>
              </a:rPr>
              <a:t>Using deep learning for image-based plant disease detection</a:t>
            </a:r>
            <a:r>
              <a:rPr lang="en-US" sz="1800" dirty="0">
                <a:latin typeface="Times New Roman" panose="02020603050405020304" pitchFamily="18" charset="0"/>
                <a:cs typeface="Times New Roman" panose="02020603050405020304" pitchFamily="18" charset="0"/>
              </a:rPr>
              <a:t>. Frontiers in Plant Science, 7, 1419.</a:t>
            </a:r>
          </a:p>
          <a:p>
            <a:pPr marL="800100" lvl="0" indent="-342900" algn="just">
              <a:lnSpc>
                <a:spcPct val="100000"/>
              </a:lnSpc>
              <a:spcBef>
                <a:spcPts val="1200"/>
              </a:spcBef>
              <a:buFont typeface="+mj-lt"/>
              <a:buAutoNum type="arabicPeriod"/>
            </a:pPr>
            <a:r>
              <a:rPr lang="en-IN" sz="1800" dirty="0" err="1">
                <a:latin typeface="Times New Roman" panose="02020603050405020304" pitchFamily="18" charset="0"/>
                <a:cs typeface="Times New Roman" panose="02020603050405020304" pitchFamily="18" charset="0"/>
              </a:rPr>
              <a:t>Sladojevic</a:t>
            </a:r>
            <a:r>
              <a:rPr lang="en-IN" sz="1800" dirty="0">
                <a:latin typeface="Times New Roman" panose="02020603050405020304" pitchFamily="18" charset="0"/>
                <a:cs typeface="Times New Roman" panose="02020603050405020304" pitchFamily="18" charset="0"/>
              </a:rPr>
              <a:t>, S., </a:t>
            </a:r>
            <a:r>
              <a:rPr lang="en-IN" sz="1800" dirty="0" err="1">
                <a:latin typeface="Times New Roman" panose="02020603050405020304" pitchFamily="18" charset="0"/>
                <a:cs typeface="Times New Roman" panose="02020603050405020304" pitchFamily="18" charset="0"/>
              </a:rPr>
              <a:t>Arsenovic</a:t>
            </a:r>
            <a:r>
              <a:rPr lang="en-IN" sz="1800" dirty="0">
                <a:latin typeface="Times New Roman" panose="02020603050405020304" pitchFamily="18" charset="0"/>
                <a:cs typeface="Times New Roman" panose="02020603050405020304" pitchFamily="18" charset="0"/>
              </a:rPr>
              <a:t>, M., </a:t>
            </a:r>
            <a:r>
              <a:rPr lang="en-IN" sz="1800" dirty="0" err="1">
                <a:latin typeface="Times New Roman" panose="02020603050405020304" pitchFamily="18" charset="0"/>
                <a:cs typeface="Times New Roman" panose="02020603050405020304" pitchFamily="18" charset="0"/>
              </a:rPr>
              <a:t>Anderla</a:t>
            </a:r>
            <a:r>
              <a:rPr lang="en-IN" sz="1800" dirty="0">
                <a:latin typeface="Times New Roman" panose="02020603050405020304" pitchFamily="18" charset="0"/>
                <a:cs typeface="Times New Roman" panose="02020603050405020304" pitchFamily="18" charset="0"/>
              </a:rPr>
              <a:t>, A., </a:t>
            </a:r>
            <a:r>
              <a:rPr lang="en-IN" sz="1800" dirty="0" err="1">
                <a:latin typeface="Times New Roman" panose="02020603050405020304" pitchFamily="18" charset="0"/>
                <a:cs typeface="Times New Roman" panose="02020603050405020304" pitchFamily="18" charset="0"/>
              </a:rPr>
              <a:t>Culibrk</a:t>
            </a:r>
            <a:r>
              <a:rPr lang="en-IN" sz="1800" dirty="0">
                <a:latin typeface="Times New Roman" panose="02020603050405020304" pitchFamily="18" charset="0"/>
                <a:cs typeface="Times New Roman" panose="02020603050405020304" pitchFamily="18" charset="0"/>
              </a:rPr>
              <a:t>, D., &amp; Stefanovic, D. (2016). </a:t>
            </a:r>
            <a:r>
              <a:rPr lang="en-IN" sz="1800" i="1" dirty="0">
                <a:latin typeface="Times New Roman" panose="02020603050405020304" pitchFamily="18" charset="0"/>
                <a:cs typeface="Times New Roman" panose="02020603050405020304" pitchFamily="18" charset="0"/>
              </a:rPr>
              <a:t>Deep neural networks based recognition of plant diseases by leaf image classification</a:t>
            </a:r>
            <a:r>
              <a:rPr lang="en-IN" sz="1800" dirty="0">
                <a:latin typeface="Times New Roman" panose="02020603050405020304" pitchFamily="18" charset="0"/>
                <a:cs typeface="Times New Roman" panose="02020603050405020304" pitchFamily="18" charset="0"/>
              </a:rPr>
              <a:t>. Computational Intelligence and Neuroscience, 2016.</a:t>
            </a:r>
          </a:p>
          <a:p>
            <a:pPr marL="800100" lvl="0" indent="-342900" algn="just">
              <a:lnSpc>
                <a:spcPct val="100000"/>
              </a:lnSpc>
              <a:spcBef>
                <a:spcPts val="1200"/>
              </a:spcBef>
              <a:buFont typeface="+mj-lt"/>
              <a:buAutoNum type="arabicPeriod"/>
            </a:pPr>
            <a:r>
              <a:rPr lang="en-US" sz="1800" dirty="0">
                <a:latin typeface="Times New Roman" panose="02020603050405020304" pitchFamily="18" charset="0"/>
                <a:cs typeface="Times New Roman" panose="02020603050405020304" pitchFamily="18" charset="0"/>
              </a:rPr>
              <a:t>Ferentinos, K. P. (2018). </a:t>
            </a:r>
            <a:r>
              <a:rPr lang="en-US" sz="1800" i="1" dirty="0">
                <a:latin typeface="Times New Roman" panose="02020603050405020304" pitchFamily="18" charset="0"/>
                <a:cs typeface="Times New Roman" panose="02020603050405020304" pitchFamily="18" charset="0"/>
              </a:rPr>
              <a:t>Deep learning models for plant disease detection and diagnosis</a:t>
            </a:r>
            <a:r>
              <a:rPr lang="en-US" sz="1800" dirty="0">
                <a:latin typeface="Times New Roman" panose="02020603050405020304" pitchFamily="18" charset="0"/>
                <a:cs typeface="Times New Roman" panose="02020603050405020304" pitchFamily="18" charset="0"/>
              </a:rPr>
              <a:t>. Computers and Electronics in Agriculture, 145, 311–318.</a:t>
            </a:r>
          </a:p>
        </p:txBody>
      </p:sp>
    </p:spTree>
    <p:extLst>
      <p:ext uri="{BB962C8B-B14F-4D97-AF65-F5344CB8AC3E}">
        <p14:creationId xmlns:p14="http://schemas.microsoft.com/office/powerpoint/2010/main" val="26861938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9388BA-7CB1-9023-9779-D671D5203567}"/>
              </a:ext>
            </a:extLst>
          </p:cNvPr>
          <p:cNvSpPr>
            <a:spLocks noGrp="1"/>
          </p:cNvSpPr>
          <p:nvPr>
            <p:ph type="title"/>
          </p:nvPr>
        </p:nvSpPr>
        <p:spPr>
          <a:xfrm>
            <a:off x="206927" y="70341"/>
            <a:ext cx="10515600" cy="681036"/>
          </a:xfrm>
        </p:spPr>
        <p:txBody>
          <a:bodyPr>
            <a:normAutofit/>
          </a:bodyPr>
          <a:lstStyle/>
          <a:p>
            <a:r>
              <a:rPr lang="en-IN" sz="2500" b="1" dirty="0">
                <a:latin typeface="Times New Roman" panose="02020603050405020304" pitchFamily="18" charset="0"/>
                <a:cs typeface="Times New Roman" panose="02020603050405020304" pitchFamily="18" charset="0"/>
              </a:rPr>
              <a:t>8. </a:t>
            </a:r>
            <a:r>
              <a:rPr lang="en-IN" sz="2500" b="1" u="sng" dirty="0">
                <a:latin typeface="Times New Roman" panose="02020603050405020304" pitchFamily="18" charset="0"/>
                <a:cs typeface="Times New Roman" panose="02020603050405020304" pitchFamily="18" charset="0"/>
              </a:rPr>
              <a:t>References</a:t>
            </a:r>
            <a:endParaRPr lang="en-IN" sz="25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7326353-495C-21D7-4A1B-71FB1A3FB1B5}"/>
              </a:ext>
            </a:extLst>
          </p:cNvPr>
          <p:cNvSpPr>
            <a:spLocks noGrp="1"/>
          </p:cNvSpPr>
          <p:nvPr>
            <p:ph idx="1"/>
          </p:nvPr>
        </p:nvSpPr>
        <p:spPr>
          <a:xfrm>
            <a:off x="206927" y="868757"/>
            <a:ext cx="11710418" cy="5351173"/>
          </a:xfrm>
        </p:spPr>
        <p:txBody>
          <a:bodyPr>
            <a:normAutofit/>
          </a:bodyPr>
          <a:lstStyle/>
          <a:p>
            <a:pPr marL="342900" indent="-342900" algn="just">
              <a:buFont typeface="+mj-lt"/>
              <a:buAutoNum type="arabicPeriod" startAt="9"/>
            </a:pPr>
            <a:r>
              <a:rPr lang="en-US" sz="1800" dirty="0" err="1">
                <a:latin typeface="Times New Roman" panose="02020603050405020304" pitchFamily="18" charset="0"/>
                <a:cs typeface="Times New Roman" panose="02020603050405020304" pitchFamily="18" charset="0"/>
              </a:rPr>
              <a:t>Barbedo</a:t>
            </a:r>
            <a:r>
              <a:rPr lang="en-US" sz="1800" dirty="0">
                <a:latin typeface="Times New Roman" panose="02020603050405020304" pitchFamily="18" charset="0"/>
                <a:cs typeface="Times New Roman" panose="02020603050405020304" pitchFamily="18" charset="0"/>
              </a:rPr>
              <a:t>, J. G. A. (2013). </a:t>
            </a:r>
            <a:r>
              <a:rPr lang="en-US" sz="1800" i="1" dirty="0">
                <a:latin typeface="Times New Roman" panose="02020603050405020304" pitchFamily="18" charset="0"/>
                <a:cs typeface="Times New Roman" panose="02020603050405020304" pitchFamily="18" charset="0"/>
              </a:rPr>
              <a:t>Digital image processing techniques for detecting, quantifying and classifying plant diseases</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SpringerPlus</a:t>
            </a:r>
            <a:r>
              <a:rPr lang="en-US" sz="1800" dirty="0">
                <a:latin typeface="Times New Roman" panose="02020603050405020304" pitchFamily="18" charset="0"/>
                <a:cs typeface="Times New Roman" panose="02020603050405020304" pitchFamily="18" charset="0"/>
              </a:rPr>
              <a:t>, 2(1), 660.</a:t>
            </a:r>
          </a:p>
          <a:p>
            <a:pPr marL="342900" indent="-342900" algn="just">
              <a:buFont typeface="+mj-lt"/>
              <a:buAutoNum type="arabicPeriod" startAt="9"/>
            </a:pPr>
            <a:r>
              <a:rPr lang="en-US" sz="1800" dirty="0">
                <a:latin typeface="Times New Roman" panose="02020603050405020304" pitchFamily="18" charset="0"/>
                <a:cs typeface="Times New Roman" panose="02020603050405020304" pitchFamily="18" charset="0"/>
              </a:rPr>
              <a:t>Ramcharan, A., McCloskey, P., Baranowski, K., et al. (2017). </a:t>
            </a:r>
            <a:r>
              <a:rPr lang="en-US" sz="1800" i="1" dirty="0">
                <a:latin typeface="Times New Roman" panose="02020603050405020304" pitchFamily="18" charset="0"/>
                <a:cs typeface="Times New Roman" panose="02020603050405020304" pitchFamily="18" charset="0"/>
              </a:rPr>
              <a:t>Deep learning for image-based cassava disease detection</a:t>
            </a:r>
            <a:r>
              <a:rPr lang="en-US" sz="1800" dirty="0">
                <a:latin typeface="Times New Roman" panose="02020603050405020304" pitchFamily="18" charset="0"/>
                <a:cs typeface="Times New Roman" panose="02020603050405020304" pitchFamily="18" charset="0"/>
              </a:rPr>
              <a:t>. Frontiers in Plant Science, 8, 1852.</a:t>
            </a:r>
          </a:p>
          <a:p>
            <a:pPr marL="342900" indent="-342900" algn="just">
              <a:buFont typeface="+mj-lt"/>
              <a:buAutoNum type="arabicPeriod" startAt="9"/>
            </a:pPr>
            <a:r>
              <a:rPr lang="en-IN" sz="1800" dirty="0">
                <a:latin typeface="Times New Roman" panose="02020603050405020304" pitchFamily="18" charset="0"/>
                <a:cs typeface="Times New Roman" panose="02020603050405020304" pitchFamily="18" charset="0"/>
              </a:rPr>
              <a:t>Picon, A., Alvarez-Gila, A., Seitz, M., Ortiz-Barredo, A., </a:t>
            </a:r>
            <a:r>
              <a:rPr lang="en-IN" sz="1800" dirty="0" err="1">
                <a:latin typeface="Times New Roman" panose="02020603050405020304" pitchFamily="18" charset="0"/>
                <a:cs typeface="Times New Roman" panose="02020603050405020304" pitchFamily="18" charset="0"/>
              </a:rPr>
              <a:t>Echazarra</a:t>
            </a:r>
            <a:r>
              <a:rPr lang="en-IN" sz="1800" dirty="0">
                <a:latin typeface="Times New Roman" panose="02020603050405020304" pitchFamily="18" charset="0"/>
                <a:cs typeface="Times New Roman" panose="02020603050405020304" pitchFamily="18" charset="0"/>
              </a:rPr>
              <a:t>, J., &amp; Johannes, A. (2019). </a:t>
            </a:r>
            <a:r>
              <a:rPr lang="en-IN" sz="1800" i="1" dirty="0">
                <a:latin typeface="Times New Roman" panose="02020603050405020304" pitchFamily="18" charset="0"/>
                <a:cs typeface="Times New Roman" panose="02020603050405020304" pitchFamily="18" charset="0"/>
              </a:rPr>
              <a:t>Crop disease classification using deep learning and field images in real-life conditions</a:t>
            </a:r>
            <a:r>
              <a:rPr lang="en-IN" sz="1800" dirty="0">
                <a:latin typeface="Times New Roman" panose="02020603050405020304" pitchFamily="18" charset="0"/>
                <a:cs typeface="Times New Roman" panose="02020603050405020304" pitchFamily="18" charset="0"/>
              </a:rPr>
              <a:t>. Computers and Electronics in Agriculture, 167, 105–119.</a:t>
            </a:r>
          </a:p>
          <a:p>
            <a:pPr marL="342900" indent="-342900" algn="just">
              <a:buFont typeface="+mj-lt"/>
              <a:buAutoNum type="arabicPeriod" startAt="9"/>
            </a:pPr>
            <a:r>
              <a:rPr lang="en-US" sz="1800" dirty="0">
                <a:latin typeface="Times New Roman" panose="02020603050405020304" pitchFamily="18" charset="0"/>
                <a:cs typeface="Times New Roman" panose="02020603050405020304" pitchFamily="18" charset="0"/>
              </a:rPr>
              <a:t>Singh, V., &amp; Misra, A. K. (2017). </a:t>
            </a:r>
            <a:r>
              <a:rPr lang="en-US" sz="1800" i="1" dirty="0">
                <a:latin typeface="Times New Roman" panose="02020603050405020304" pitchFamily="18" charset="0"/>
                <a:cs typeface="Times New Roman" panose="02020603050405020304" pitchFamily="18" charset="0"/>
              </a:rPr>
              <a:t>Detection of plant leaf diseases using image segmentation and soft computing techniques</a:t>
            </a:r>
            <a:r>
              <a:rPr lang="en-US" sz="1800" dirty="0">
                <a:latin typeface="Times New Roman" panose="02020603050405020304" pitchFamily="18" charset="0"/>
                <a:cs typeface="Times New Roman" panose="02020603050405020304" pitchFamily="18" charset="0"/>
              </a:rPr>
              <a:t>. Information Processing in Agriculture, 4(1), 41–49.</a:t>
            </a:r>
          </a:p>
          <a:p>
            <a:pPr marL="342900" indent="-342900" algn="just">
              <a:buFont typeface="+mj-lt"/>
              <a:buAutoNum type="arabicPeriod" startAt="9"/>
            </a:pPr>
            <a:r>
              <a:rPr lang="en-US" sz="1800" dirty="0">
                <a:latin typeface="Times New Roman" panose="02020603050405020304" pitchFamily="18" charset="0"/>
                <a:cs typeface="Times New Roman" panose="02020603050405020304" pitchFamily="18" charset="0"/>
              </a:rPr>
              <a:t>Too, E. C., Yujian, L., Njuki, S., &amp; </a:t>
            </a:r>
            <a:r>
              <a:rPr lang="en-US" sz="1800" dirty="0" err="1">
                <a:latin typeface="Times New Roman" panose="02020603050405020304" pitchFamily="18" charset="0"/>
                <a:cs typeface="Times New Roman" panose="02020603050405020304" pitchFamily="18" charset="0"/>
              </a:rPr>
              <a:t>Yingchun</a:t>
            </a:r>
            <a:r>
              <a:rPr lang="en-US" sz="1800" dirty="0">
                <a:latin typeface="Times New Roman" panose="02020603050405020304" pitchFamily="18" charset="0"/>
                <a:cs typeface="Times New Roman" panose="02020603050405020304" pitchFamily="18" charset="0"/>
              </a:rPr>
              <a:t>, L. (2019). </a:t>
            </a:r>
            <a:r>
              <a:rPr lang="en-US" sz="1800" i="1" dirty="0">
                <a:latin typeface="Times New Roman" panose="02020603050405020304" pitchFamily="18" charset="0"/>
                <a:cs typeface="Times New Roman" panose="02020603050405020304" pitchFamily="18" charset="0"/>
              </a:rPr>
              <a:t>A comparative study of fine-tuning deep learning models for plant disease identification</a:t>
            </a:r>
            <a:r>
              <a:rPr lang="en-US" sz="1800" dirty="0">
                <a:latin typeface="Times New Roman" panose="02020603050405020304" pitchFamily="18" charset="0"/>
                <a:cs typeface="Times New Roman" panose="02020603050405020304" pitchFamily="18" charset="0"/>
              </a:rPr>
              <a:t>. Computers and Electronics in Agriculture, 161, 272–279.</a:t>
            </a:r>
          </a:p>
          <a:p>
            <a:pPr marL="342900" indent="-342900" algn="just">
              <a:buFont typeface="+mj-lt"/>
              <a:buAutoNum type="arabicPeriod" startAt="9"/>
            </a:pPr>
            <a:r>
              <a:rPr lang="en-IN" sz="1800" dirty="0">
                <a:latin typeface="Times New Roman" panose="02020603050405020304" pitchFamily="18" charset="0"/>
                <a:cs typeface="Times New Roman" panose="02020603050405020304" pitchFamily="18" charset="0"/>
              </a:rPr>
              <a:t>Brahimi, M., Boukhalfa, K., &amp; Moussaoui, A. (2017). </a:t>
            </a:r>
            <a:r>
              <a:rPr lang="en-IN" sz="1800" i="1" dirty="0">
                <a:latin typeface="Times New Roman" panose="02020603050405020304" pitchFamily="18" charset="0"/>
                <a:cs typeface="Times New Roman" panose="02020603050405020304" pitchFamily="18" charset="0"/>
              </a:rPr>
              <a:t>Deep learning for tomato diseases: Classification and symptoms visualization</a:t>
            </a:r>
            <a:r>
              <a:rPr lang="en-IN" sz="1800" dirty="0">
                <a:latin typeface="Times New Roman" panose="02020603050405020304" pitchFamily="18" charset="0"/>
                <a:cs typeface="Times New Roman" panose="02020603050405020304" pitchFamily="18" charset="0"/>
              </a:rPr>
              <a:t>. Applied Artificial Intelligence, 31(4), 299–315.</a:t>
            </a:r>
          </a:p>
          <a:p>
            <a:pPr marL="342900" indent="-342900" algn="just">
              <a:buFont typeface="+mj-lt"/>
              <a:buAutoNum type="arabicPeriod" startAt="9"/>
            </a:pPr>
            <a:r>
              <a:rPr lang="en-US" sz="1800" dirty="0">
                <a:latin typeface="Times New Roman" panose="02020603050405020304" pitchFamily="18" charset="0"/>
                <a:cs typeface="Times New Roman" panose="02020603050405020304" pitchFamily="18" charset="0"/>
              </a:rPr>
              <a:t>Xie, C., &amp; Yang, C. (2020). </a:t>
            </a:r>
            <a:r>
              <a:rPr lang="en-US" sz="1800" i="1" dirty="0">
                <a:latin typeface="Times New Roman" panose="02020603050405020304" pitchFamily="18" charset="0"/>
                <a:cs typeface="Times New Roman" panose="02020603050405020304" pitchFamily="18" charset="0"/>
              </a:rPr>
              <a:t>A review on plant disease identification based on deep learning models</a:t>
            </a:r>
            <a:r>
              <a:rPr lang="en-US" sz="1800" dirty="0">
                <a:latin typeface="Times New Roman" panose="02020603050405020304" pitchFamily="18" charset="0"/>
                <a:cs typeface="Times New Roman" panose="02020603050405020304" pitchFamily="18" charset="0"/>
              </a:rPr>
              <a:t>. Frontiers in Plant Science, 11, 416.</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045860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1695</TotalTime>
  <Words>2753</Words>
  <Application>Microsoft Office PowerPoint</Application>
  <PresentationFormat>Widescreen</PresentationFormat>
  <Paragraphs>268</Paragraphs>
  <Slides>31</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31</vt:i4>
      </vt:variant>
    </vt:vector>
  </HeadingPairs>
  <TitlesOfParts>
    <vt:vector size="40" baseType="lpstr">
      <vt:lpstr>Arial</vt:lpstr>
      <vt:lpstr>Arial (Body)</vt:lpstr>
      <vt:lpstr>Calibri</vt:lpstr>
      <vt:lpstr>Calibri Light</vt:lpstr>
      <vt:lpstr>Cambria Math</vt:lpstr>
      <vt:lpstr>Courier New</vt:lpstr>
      <vt:lpstr>Times New Roman</vt:lpstr>
      <vt:lpstr>Wingdings</vt:lpstr>
      <vt:lpstr>Office Theme</vt:lpstr>
      <vt:lpstr>Plant disease detection: Yield loss Estimation</vt:lpstr>
      <vt:lpstr>Agenda</vt:lpstr>
      <vt:lpstr>Introduction</vt:lpstr>
      <vt:lpstr>2. Motivation</vt:lpstr>
      <vt:lpstr>3. Problem Statement</vt:lpstr>
      <vt:lpstr>4. Scope &amp; Objectives</vt:lpstr>
      <vt:lpstr>5. Literature Survey: Paper 1</vt:lpstr>
      <vt:lpstr>5. Literature Survey: Paper 2</vt:lpstr>
      <vt:lpstr>5. Literature Survey: Paper 3</vt:lpstr>
      <vt:lpstr>5. Literature Survey: Paper 4</vt:lpstr>
      <vt:lpstr>5. Literature Survey: Paper 5</vt:lpstr>
      <vt:lpstr>5. Literature Survey</vt:lpstr>
      <vt:lpstr>5. Literature Survey</vt:lpstr>
      <vt:lpstr>6. Software/Hardware required</vt:lpstr>
      <vt:lpstr>7. Proposed System Architecture &amp; Algorithm</vt:lpstr>
      <vt:lpstr>7. Proposed System Architecture &amp; Algorithm</vt:lpstr>
      <vt:lpstr>7. Proposed System Architecture &amp; Algorithm</vt:lpstr>
      <vt:lpstr>7. Proposed System Architecture &amp; Algorithm</vt:lpstr>
      <vt:lpstr>8. Implementation and result analysis</vt:lpstr>
      <vt:lpstr>8. Implementation and result analysis</vt:lpstr>
      <vt:lpstr>8. Implementation and result analysis</vt:lpstr>
      <vt:lpstr>8. Implementation and result analysis</vt:lpstr>
      <vt:lpstr>8. Implementation and result analysis</vt:lpstr>
      <vt:lpstr>8. Implementation and result analysis</vt:lpstr>
      <vt:lpstr>8. Implementation and result analysis</vt:lpstr>
      <vt:lpstr>8. Implementation and result analysis</vt:lpstr>
      <vt:lpstr>8. Implementation and result analysis</vt:lpstr>
      <vt:lpstr>8. Implementation and result analysis</vt:lpstr>
      <vt:lpstr>Conclusion</vt:lpstr>
      <vt:lpstr>8. References</vt:lpstr>
      <vt:lpstr>8. 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Tejas Naikude</dc:creator>
  <cp:lastModifiedBy>Tejas Naikude</cp:lastModifiedBy>
  <cp:revision>134</cp:revision>
  <dcterms:created xsi:type="dcterms:W3CDTF">2025-09-07T09:07:12Z</dcterms:created>
  <dcterms:modified xsi:type="dcterms:W3CDTF">2025-10-30T22:13:21Z</dcterms:modified>
</cp:coreProperties>
</file>